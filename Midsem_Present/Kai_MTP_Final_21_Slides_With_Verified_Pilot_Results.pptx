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1" r:id="rId22"/>
    <p:sldId id="258" r:id="rId9"/>
    <p:sldId id="259" r:id="rId10"/>
    <p:sldId id="272" r:id="rId23"/>
    <p:sldId id="260" r:id="rId11"/>
    <p:sldId id="261" r:id="rId12"/>
    <p:sldId id="262" r:id="rId13"/>
    <p:sldId id="263" r:id="rId14"/>
    <p:sldId id="264" r:id="rId15"/>
    <p:sldId id="265" r:id="rId16"/>
    <p:sldId id="273" r:id="rId24"/>
    <p:sldId id="266" r:id="rId17"/>
    <p:sldId id="267" r:id="rId18"/>
    <p:sldId id="268" r:id="rId19"/>
    <p:sldId id="274" r:id="rId25"/>
    <p:sldId id="269" r:id="rId20"/>
    <p:sldId id="270" r:id="rId21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3.xml"/><Relationship Id="rId23" Type="http://schemas.openxmlformats.org/officeDocument/2006/relationships/slide" Target="slides/slide6.xml"/><Relationship Id="rId24" Type="http://schemas.openxmlformats.org/officeDocument/2006/relationships/slide" Target="slides/slide13.xml"/><Relationship Id="rId25" Type="http://schemas.openxmlformats.org/officeDocument/2006/relationships/slide" Target="slides/slide17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MTP PROGRESS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Check What Can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 b="0">
                <a:solidFill>
                  <a:srgbClr val="555E68"/>
                </a:solidFill>
                <a:latin typeface="Arial"/>
              </a:defRPr>
            </a:pPr>
            <a:r>
              <a:t>Targeted evidence checking for AI-based clinical-trial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Akash Mogili</a:t>
            </a:r>
          </a:p>
          <a:p>
            <a:pPr>
              <a:spcAft>
                <a:spcPts val="1100"/>
              </a:spcAft>
              <a:defRPr sz="2300" b="0">
                <a:solidFill>
                  <a:srgbClr val="1D3044"/>
                </a:solidFill>
                <a:latin typeface="Arial"/>
              </a:defRPr>
            </a:pPr>
            <a:r>
              <a:t>B.Tech CSE  |  IIT Mandi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555E68"/>
                </a:solidFill>
                <a:latin typeface="Arial"/>
              </a:defRPr>
            </a:pPr>
            <a:r>
              <a:t>Technical validation, prior evidence, proposed methods and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checking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An AI model answers trial eligibility rules using a patient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plausible citation does not guarantee that the answer is supported.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A single incorrect rejection reason may exclude an eligible patient.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1D3044"/>
                </a:solidFill>
                <a:latin typeface="Arial"/>
              </a:defRPr>
            </a:pPr>
            <a:r>
              <a:t>•  Our focus: check the answers most likely to change the final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Screening workflow and where checking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Conceptual process — proposed verification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Patient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Clinical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AI rule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yes / no /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Evidence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Six verification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423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07680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2011680"/>
            <a:ext cx="2350008" cy="12801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31136"/>
            <a:ext cx="2121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304B"/>
                </a:solidFill>
                <a:latin typeface="Arial"/>
              </a:rPr>
              <a:t>Final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60904"/>
            <a:ext cx="2121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6B78"/>
                </a:solidFill>
                <a:latin typeface="Arial"/>
              </a:rPr>
              <a:t>Eligible / Review / Not eligible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8416" y="3886200"/>
            <a:ext cx="5166360" cy="713232"/>
          </a:xfrm>
          <a:prstGeom prst="round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4041648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7680"/>
                </a:solidFill>
                <a:latin typeface="Arial"/>
              </a:rPr>
              <a:t>Prioritize errors that could change eligibility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related research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Ask Instead of Guess — 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Check What Can Change — Akash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missing information.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Keep UNKNOWN when evidence is insufficient.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Ask focused follow-up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Verify AI rule answers.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Identify evidence and reasoning errors.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Prioritize checks by decision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Both projects use the NSCLC and SIGIR clinical-trial screening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PRIOR LABORATORY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a checker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NSCLC audit: 77 of 151 model-cited violations were genuine (50.99%).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Historical human–model study: 11 joint errors versus 5.3 expected (2.08×).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Frozen SIGIR study: 95 of 144 items routed for review (65.97% workload).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These findings are prior laboratory evidence, not results from our new checker.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Why targeted verification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Prior laboratory findings — not results of the proposed student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Cited violations genuine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74519"/>
            <a:ext cx="4983480" cy="310896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874519"/>
            <a:ext cx="2541244" cy="310896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18105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77 / 151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SIGIR routed for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337560"/>
            <a:ext cx="4983480" cy="310896"/>
          </a:xfrm>
          <a:prstGeom prst="round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3337560"/>
            <a:ext cx="3287712" cy="310896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32735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9304B"/>
                </a:solidFill>
                <a:latin typeface="Arial"/>
              </a:rPr>
              <a:t>95 / 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A4141"/>
                </a:solidFill>
                <a:latin typeface="Arial"/>
              </a:rPr>
              <a:t>Human–model errors: 11 observed together vs 5.3 expected (2.08×)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Two datasets and their evaluation splits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NSCLC-100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SIGIR-204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 trials; 223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2,230 criterion answers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50 development / 50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204 patient–trial pairs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14 patients; 1,911 reviewed rules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100 Eligible / 104 Not Eligible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102 development / 102 test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Split by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Do not tune on the held-out test splits.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IMPLEMENTATION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Technical validation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NSCLC starter-kit self-tests: 36 passed, 0 failed.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SIGIR package checks: 9 passed, 0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Python environment verified with NumPy 1.26.4 and Pandas 2.2.3.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Qwen2.5:7b downloaded and responded successfully via local Ollama.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Real clinical-trial inference was started; no completed model accuracy result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Baseline and evaluation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Plain AI: one local-model answer per patient–trial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Each response contains yes / no / unknown and supporting quotation.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Rule polarity maps answers to met / not_met / not_stated.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Pair decision: any failed rule → NOT_ELIGIBLE; all met → ELIGIBLE; otherwise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predictions with validated annotations and pair-level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Six planned evidence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1. Citation existence — is the quoted span in the note?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2. Support — does the quote justify the claimed answer?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3. Context — negation, family history, past or hypothetical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4. Logic — rule polarity and numerical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5. Contradiction — conflicting evidence elsewhere in the note.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6. Missed evidence — decisive information ignored by UNKNOWN.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Why decision impact determines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Single rejection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Multiple rejection reasons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One failed criterion is the only reason for rejection.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If it is incorrect, correction could change the pair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Several failed criteria remain.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Fixing just one may not change the pair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Decision impact is calculated from rule outcomes, not model confidence alone.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Compare checking strategies at equal budgets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Random selection — fixed-seed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Low confidence — inspect uncertain answers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Checker flags — inspect suspected evidence errors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Decision impact — inspect pivotal rejection reasons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Combined strategy — evidence warnings plus decision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71499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0">
                <a:solidFill>
                  <a:srgbClr val="1D3044"/>
                </a:solidFill>
                <a:latin typeface="Arial"/>
              </a:defRPr>
            </a:pPr>
            <a:r>
              <a:t>•  Evaluate at 5, 10, 20, 50 and 100 checks.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Decision impact: a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Illustrative rule logic, not a measured patient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5212080" cy="3474720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304B"/>
                </a:solidFill>
                <a:latin typeface="Arial"/>
              </a:rPr>
              <a:t>One failed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50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A: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9443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B: NOT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438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C: MET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4151376"/>
            <a:ext cx="4663440" cy="5943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288536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304B"/>
                </a:solidFill>
                <a:latin typeface="Arial"/>
              </a:rPr>
              <a:t>Fix B → ELIGIBLE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600200"/>
            <a:ext cx="5212080" cy="3474720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9304B"/>
                </a:solidFill>
                <a:latin typeface="Arial"/>
              </a:rPr>
              <a:t>Two failed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3" y="24505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A: NOT 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94436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4141"/>
                </a:solidFill>
                <a:latin typeface="Arial"/>
              </a:rPr>
              <a:t>Rule B: NOT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3" y="34381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7680"/>
                </a:solidFill>
                <a:latin typeface="Arial"/>
              </a:rPr>
              <a:t>Rule C: 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4151376"/>
            <a:ext cx="4663440" cy="594360"/>
          </a:xfrm>
          <a:prstGeom prst="roundRect">
            <a:avLst/>
          </a:prstGeom>
          <a:solidFill>
            <a:srgbClr val="EA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3" y="4288536"/>
            <a:ext cx="4480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304B"/>
                </a:solidFill>
                <a:latin typeface="Arial"/>
              </a:rPr>
              <a:t>Fix A → still NOT ELIGIBLE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Traps, repair and deferral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Controlled traps: negation, family history, hypothetical statements, old values, contradictions, removed evidence and threshold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three actions: keep the answer, defer to UNKNOWN/review, or re-ask once with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Measure both incorrect answers fixed and correct answers broken.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Main proposed outcome: eligible patient–trial pairs rescued per 10 checks.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Completed work and remaining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Completed /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1">
                <a:solidFill>
                  <a:srgbClr val="156D75"/>
                </a:solidFill>
                <a:latin typeface="Arial"/>
              </a:defRPr>
            </a:pPr>
            <a:r>
              <a:t>In progress / not yet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00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Both datasets and splits validated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36 NSCLC tests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9 SIGIR checks passed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Qwen2.5:7b responds locally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Baseline script and evaluation CLI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47091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Independent truth annotations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Real baseline accuracy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Six-checker implementation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Priority-strategy comparison</a:t>
            </a:r>
          </a:p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Repair and trap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 b="0">
                <a:solidFill>
                  <a:srgbClr val="555E68"/>
                </a:solidFill>
                <a:latin typeface="Arial"/>
              </a:defRPr>
            </a:pPr>
            <a:r>
              <a:t>No mock-model output is presented as real clinical-model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Immediate development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Complete and freeze a small independent development annotation subset.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Run and evaluate a bounded Qwen2.5:7b development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Implement evidence checks and inspect errors manually.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Compare review priorities on the same checked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 b="0">
                <a:solidFill>
                  <a:srgbClr val="1D3044"/>
                </a:solidFill>
                <a:latin typeface="Arial"/>
              </a:defRPr>
            </a:pPr>
            <a:r>
              <a:t>•  Freeze the method before transferring it to SIGIR and the held-out test 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Current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Verified technical work versus experiments still to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90472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57276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NSCLC integrity and 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5727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36 / 36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39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5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SIGIR integrity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231135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9 / 9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07208"/>
            <a:ext cx="10607040" cy="521207"/>
          </a:xfrm>
          <a:prstGeom prst="roundRect">
            <a:avLst/>
          </a:prstGeom>
          <a:solidFill>
            <a:srgbClr val="F2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889503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Local Qwen2.5:7b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8895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7680"/>
                </a:solidFill>
                <a:latin typeface="Arial"/>
              </a:rPr>
              <a:t>READY response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65576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54787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Real model baseline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54787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measured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23944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0624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Six-check evidence checker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2062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82312"/>
            <a:ext cx="10607040" cy="521207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864607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Priority and repair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864607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5F6B78"/>
                </a:solidFill>
                <a:latin typeface="Arial"/>
              </a:rPr>
              <a:t>Not implemented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Limitations and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 small pilot will not establish generalization to all trials.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Incomplete notes make some criteria genuinely indeterminable.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Review workload matters as much as raw checker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605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Automated repair may introduce new errors; deferral may be safer.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37759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 b="0">
                <a:solidFill>
                  <a:srgbClr val="1D3044"/>
                </a:solidFill>
                <a:latin typeface="Arial"/>
              </a:defRPr>
            </a:pPr>
            <a:r>
              <a:t>•  Report negative findings and incomplete experiments explicitly.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1">
                <a:solidFill>
                  <a:srgbClr val="156D75"/>
                </a:solidFill>
                <a:latin typeface="Arial"/>
              </a:defRPr>
            </a:pPr>
            <a: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900" b="1">
                <a:solidFill>
                  <a:srgbClr val="1D3044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55080"/>
            <a:ext cx="10789920" cy="1097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2823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MTP Mid-Semester Evaluation  |  12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900" b="0">
                <a:solidFill>
                  <a:srgbClr val="555E68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3000" b="1">
                <a:solidFill>
                  <a:srgbClr val="156D75"/>
                </a:solidFill>
                <a:latin typeface="Arial"/>
              </a:defRPr>
            </a:pPr>
            <a:r>
              <a:t>Check what can change the outcome.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 b="0">
                <a:solidFill>
                  <a:srgbClr val="555E68"/>
                </a:solidFill>
                <a:latin typeface="Arial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PRELIMINARY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Qwen2.5:7b baseline  |  NSCLC-100, pair 7 (T01)  |  exploratory n = 1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230368" cy="100584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1673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07680"/>
                </a:solidFill>
                <a:latin typeface="Arial"/>
              </a:rPr>
              <a:t>21 /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8024" y="1645920"/>
            <a:ext cx="3182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04B"/>
                </a:solidFill>
                <a:latin typeface="Arial"/>
              </a:rPr>
              <a:t>Rule answers written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63040"/>
            <a:ext cx="5230368" cy="100584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1673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07680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2" y="1645920"/>
            <a:ext cx="3182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04B"/>
                </a:solidFill>
                <a:latin typeface="Arial"/>
              </a:rPr>
              <a:t>Failed model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15768"/>
            <a:ext cx="5230368" cy="100584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825496"/>
            <a:ext cx="1673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07680"/>
                </a:solidFill>
                <a:latin typeface="Arial"/>
              </a:rPr>
              <a:t>1 /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898648"/>
            <a:ext cx="3182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04B"/>
                </a:solidFill>
                <a:latin typeface="Arial"/>
              </a:rPr>
              <a:t>Eligible-labeled pair predicted NOT_ELIGIBLE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715768"/>
            <a:ext cx="5230368" cy="100584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25496"/>
            <a:ext cx="1673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007680"/>
                </a:solidFill>
                <a:latin typeface="Arial"/>
              </a:rPr>
              <a:t>8 /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898648"/>
            <a:ext cx="3182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04B"/>
                </a:solidFill>
                <a:latin typeface="Arial"/>
              </a:rPr>
              <a:t>Quoted spans matched verbatim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605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9304B"/>
                </a:solidFill>
                <a:latin typeface="Arial"/>
              </a:rPr>
              <a:t>Model rule-verdict distribution (21 criteria)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99432"/>
            <a:ext cx="2351314" cy="292608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37114" y="4599432"/>
            <a:ext cx="940525" cy="292608"/>
          </a:xfrm>
          <a:prstGeom prst="roundRect">
            <a:avLst/>
          </a:prstGeom>
          <a:solidFill>
            <a:srgbClr val="A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40" y="4599432"/>
            <a:ext cx="6583680" cy="292608"/>
          </a:xfrm>
          <a:prstGeom prst="roundRect">
            <a:avLst/>
          </a:prstGeom>
          <a:solidFill>
            <a:srgbClr val="97A2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3834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9304B"/>
                </a:solidFill>
                <a:latin typeface="Arial"/>
              </a:rPr>
              <a:t>Met: 5 (23.8%)     Not met: 2 (9.5%)     Not stated: 14 (66.7%)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052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93E3E"/>
                </a:solidFill>
                <a:latin typeface="Arial"/>
              </a:rPr>
              <a:t>Official evaluator: strict accuracy 0/1; this is NOT an overall model accuracy estimate.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91440"/>
          </a:xfrm>
          <a:prstGeom prst="roundRect">
            <a:avLst/>
          </a:prstGeom>
          <a:solidFill>
            <a:srgbClr val="007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304B"/>
                </a:solidFill>
                <a:latin typeface="Arial"/>
              </a:rPr>
              <a:t>PILOT CASE STUDY: WHY CHECKING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F6B78"/>
                </a:solidFill>
                <a:latin typeface="Arial"/>
              </a:rPr>
              <a:t>Manual inspection of model output; automated six-check system not yet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6B78"/>
                </a:solidFill>
                <a:latin typeface="Arial"/>
              </a:rPr>
              <a:t>MTP Mid-Semester Evaluation  |  12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11000232" cy="1078992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Logic: ECOG 0 or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444752"/>
            <a:ext cx="47091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9304B"/>
                </a:solidFill>
                <a:latin typeface="Arial"/>
              </a:rPr>
              <a:t>Patient note: ECOG=1; model verdict: NOT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5672" y="1463040"/>
            <a:ext cx="250545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680"/>
                </a:solidFill>
                <a:latin typeface="Arial"/>
              </a:rPr>
              <a:t>Confirmed model logic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33472"/>
            <a:ext cx="11000232" cy="1078992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Citation existence: NSCLC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724912"/>
            <a:ext cx="47091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9304B"/>
                </a:solidFill>
                <a:latin typeface="Arial"/>
              </a:rPr>
              <a:t>Model quoted criterion text absent from patient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2743200"/>
            <a:ext cx="250545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680"/>
                </a:solidFill>
                <a:latin typeface="Arial"/>
              </a:rPr>
              <a:t>Non-verbatim citation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913631"/>
            <a:ext cx="11000232" cy="1078992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59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304B"/>
                </a:solidFill>
                <a:latin typeface="Arial"/>
              </a:rPr>
              <a:t>Tumor size / reference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4005071"/>
            <a:ext cx="47091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9304B"/>
                </a:solidFill>
                <a:latin typeface="Arial"/>
              </a:rPr>
              <a:t>Stage Ia, tumor ≤2 cm; trial requires &gt;2 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4023359"/>
            <a:ext cx="250545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93E3E"/>
                </a:solidFill>
                <a:latin typeface="Arial"/>
              </a:rPr>
              <a:t>Model rejection appears justified; label requires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30952"/>
            <a:ext cx="10927080" cy="640080"/>
          </a:xfrm>
          <a:prstGeom prst="roundRect">
            <a:avLst/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440680"/>
            <a:ext cx="10469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304B"/>
                </a:solidFill>
                <a:latin typeface="Arial"/>
              </a:rPr>
              <a:t>Interpretation: correcting ECOG alone does not rescue the pair; another criterion still fails.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108192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6B78"/>
                </a:solidFill>
                <a:latin typeface="Arial"/>
              </a:rPr>
              <a:t>Scope: one-pair pilot. Checker detection rates, repair outcomes, and rescue-per-check remain unmeasured.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