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question. This is a progress presentation, not a claim that the proposed checker has already been evaluated.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MTP MID-EVALUATION • 12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>CHECK WHAT CAN CHANGE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81912"/>
            <a:ext cx="10972800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977"/>
                </a:solidFill>
                <a:latin typeface="Aptos"/>
              </a:defRPr>
            </a:pPr>
            <a:r>
              <a:t>Decision-aware evidence checking for AI-based clinical trial screening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10881360" cy="1920240"/>
          </a:xfrm>
          <a:prstGeom prst="round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88336"/>
            <a:ext cx="10149840" cy="10972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Which AI answers should we check first to prevent wrongful patient rejection?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36592"/>
            <a:ext cx="10058400" cy="5486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11223A"/>
                </a:solidFill>
                <a:latin typeface="Aptos"/>
              </a:defRPr>
            </a:pPr>
            <a:r>
              <a:t>Akash (Kai)  •  B.Tech CSE  •  IIT Mandi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10058400" cy="5486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977"/>
                </a:solidFill>
                <a:latin typeface="Aptos"/>
              </a:defRPr>
            </a:pPr>
            <a:r>
              <a:t>Progress presentation — prior laboratory findings + proposed student experiments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>Clinical-trial screening is an evidence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81912"/>
            <a:ext cx="10972800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977"/>
                </a:solidFill>
                <a:latin typeface="Aptos"/>
              </a:defRPr>
            </a:pPr>
            <a:r>
              <a:t>A valid-looking AI explanation may still produce the wrong eligibility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3383280" cy="246888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50292" cy="2468880"/>
          </a:xfrm>
          <a:prstGeom prst="roundRect">
            <a:avLst/>
          </a:prstGeom>
          <a:solidFill>
            <a:srgbClr val="2E5D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551176"/>
            <a:ext cx="30175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2E5D95"/>
                </a:solidFill>
                <a:latin typeface="Aptos"/>
              </a:defRPr>
            </a:pPr>
            <a:r>
              <a:t>PATIENT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182112"/>
            <a:ext cx="2971800" cy="15544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1223A"/>
                </a:solidFill>
                <a:latin typeface="Aptos"/>
              </a:defRPr>
            </a:pPr>
            <a:r>
              <a:t>The record contains clinical facts, omissions, and uncertainty.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377440"/>
            <a:ext cx="3383280" cy="246888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8" y="2377440"/>
            <a:ext cx="50292" cy="2468880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551176"/>
            <a:ext cx="30175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008583"/>
                </a:solidFill>
                <a:latin typeface="Aptos"/>
              </a:defRPr>
            </a:pPr>
            <a:r>
              <a:t>AI RULE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182112"/>
            <a:ext cx="2971800" cy="15544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1223A"/>
                </a:solidFill>
                <a:latin typeface="Aptos"/>
              </a:defRPr>
            </a:pPr>
            <a:r>
              <a:t>The AI decides whether a criterion is satisfied and cites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377440"/>
            <a:ext cx="3383280" cy="246888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2377440"/>
            <a:ext cx="50292" cy="2468880"/>
          </a:xfrm>
          <a:prstGeom prst="roundRect">
            <a:avLst/>
          </a:prstGeom>
          <a:solidFill>
            <a:srgbClr val="B340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2551176"/>
            <a:ext cx="30175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B34043"/>
                </a:solidFill>
                <a:latin typeface="Aptos"/>
              </a:defRPr>
            </a:pPr>
            <a:r>
              <a:t>FINAL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182112"/>
            <a:ext cx="2971800" cy="15544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1223A"/>
                </a:solidFill>
                <a:latin typeface="Aptos"/>
              </a:defRPr>
            </a:pPr>
            <a:r>
              <a:t>One mistaken rule answer can incorrectly exclude an eligible patient.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1223A"/>
                </a:solidFill>
                <a:latin typeface="Aptos"/>
              </a:defRPr>
            </a:pPr>
            <a:r>
              <a:t>Our focus: verify consequential answers first, not simply check everything.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>Two complementary projects — one shared foundation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212080" cy="310896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0292" cy="3108960"/>
          </a:xfrm>
          <a:prstGeom prst="roundRect">
            <a:avLst/>
          </a:prstGeom>
          <a:solidFill>
            <a:srgbClr val="2E5D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276856"/>
            <a:ext cx="48463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2E5D95"/>
                </a:solidFill>
                <a:latin typeface="Aptos"/>
              </a:defRPr>
            </a:pPr>
            <a:r>
              <a:t>AMAN — ASK INSTEAD OF GUESS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907791"/>
            <a:ext cx="4800600" cy="21945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1223A"/>
                </a:solidFill>
                <a:latin typeface="Aptos"/>
              </a:defRPr>
            </a:pPr>
            <a:r>
              <a:t>When evidence is missing: preserve UNKNOWN and ask a decision-relevant question.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5212080" cy="310896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103120"/>
            <a:ext cx="50292" cy="3108960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276856"/>
            <a:ext cx="48463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08583"/>
                </a:solidFill>
                <a:latin typeface="Aptos"/>
              </a:defRPr>
            </a:pPr>
            <a:r>
              <a:t>AKASH — CHECK WHAT CAN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907791"/>
            <a:ext cx="4800600" cy="21945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1223A"/>
                </a:solidFill>
                <a:latin typeface="Aptos"/>
              </a:defRPr>
            </a:pPr>
            <a:r>
              <a:t>After the AI answers: detect unsupported reasoning and prioritize checks that can change the final decision.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77840"/>
            <a:ext cx="10058400" cy="4114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96977"/>
                </a:solidFill>
                <a:latin typeface="Aptos"/>
              </a:defRPr>
            </a:pPr>
            <a:r>
              <a:t>The two approaches are complementary; their experiments and outcomes remain separate.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BACKGROUND • PRIOR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>Historical annotation studies motivate our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81912"/>
            <a:ext cx="10972800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977"/>
                </a:solidFill>
                <a:latin typeface="Aptos"/>
              </a:defRPr>
            </a:pPr>
            <a:r>
              <a:t>These are not outcomes generated by our proposed student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5212080" cy="315468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0292" cy="3154680"/>
          </a:xfrm>
          <a:prstGeom prst="roundRect">
            <a:avLst/>
          </a:prstGeom>
          <a:solidFill>
            <a:srgbClr val="2E5D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368296"/>
            <a:ext cx="48463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E5D95"/>
                </a:solidFill>
                <a:latin typeface="Aptos"/>
              </a:defRPr>
            </a:pPr>
            <a:r>
              <a:t>HISTORICAL NSCLC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999232"/>
            <a:ext cx="4800600" cy="22402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251 unique note–criterion items; three reviewer files with repeated controls.</a:t>
            </a:r>
          </a:p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Measured disagreement and inconsistency.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94560"/>
            <a:ext cx="5212080" cy="315468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2194560"/>
            <a:ext cx="50292" cy="3154680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368296"/>
            <a:ext cx="48463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8583"/>
                </a:solidFill>
                <a:latin typeface="Aptos"/>
              </a:defRPr>
            </a:pPr>
            <a:r>
              <a:t>FROZEN SIGIR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999232"/>
            <a:ext cx="4800600" cy="22402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160 criterion-level items; 28 patient–trial clusters; two blinded reviewers plus adjudication.</a:t>
            </a:r>
          </a:p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Measured evidence availability and routing burden.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RESULTS SO FAR • PRIOR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>Finding 1 — A real citation is not a verified violation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81912"/>
            <a:ext cx="10972800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977"/>
                </a:solidFill>
                <a:latin typeface="Aptos"/>
              </a:defRPr>
            </a:pPr>
            <a:r>
              <a:t>Corrected historical NSCLC explanation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148840"/>
            <a:ext cx="3794760" cy="2468880"/>
          </a:xfrm>
          <a:prstGeom prst="round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68880"/>
            <a:ext cx="3383280" cy="10972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 algn="ctr">
              <a:spcAft>
                <a:spcPts val="900"/>
              </a:spcAft>
              <a:defRPr sz="4800" b="1">
                <a:solidFill>
                  <a:srgbClr val="FFFFFF"/>
                </a:solidFill>
                <a:latin typeface="Aptos"/>
              </a:defRPr>
            </a:pPr>
            <a:r>
              <a:t>50.99%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49039"/>
            <a:ext cx="3200400" cy="4572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 algn="ctr">
              <a:spcAft>
                <a:spcPts val="9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Raw explanation 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148840"/>
            <a:ext cx="6492240" cy="246888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92040" y="2148840"/>
            <a:ext cx="50292" cy="2468880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2322576"/>
            <a:ext cx="6126479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8583"/>
                </a:solidFill>
                <a:latin typeface="Aptos"/>
              </a:defRPr>
            </a:pPr>
            <a:r>
              <a:t>77 / 151 CITATIONS CONFIRMED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953512"/>
            <a:ext cx="6080759" cy="15544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1223A"/>
                </a:solidFill>
                <a:latin typeface="Aptos"/>
              </a:defRPr>
            </a:pPr>
            <a:r>
              <a:t>Patient-clustered 95% interval: 42.07%–59.60%. A genuine quoted span may still be misinterpreted.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1223A"/>
                </a:solidFill>
                <a:latin typeface="Aptos"/>
              </a:defRPr>
            </a:pPr>
            <a:r>
              <a:t>Implication: check support, context, and rule logic — not just whether the quote exists.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RESULTS SO FAR • PRIOR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>Finding 2 — A second judge may repeat the same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81912"/>
            <a:ext cx="10972800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977"/>
                </a:solidFill>
                <a:latin typeface="Aptos"/>
              </a:defRPr>
            </a:pPr>
            <a:r>
              <a:t>Historical human–model error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103120"/>
            <a:ext cx="3794760" cy="2560320"/>
          </a:xfrm>
          <a:prstGeom prst="round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3200400" cy="9601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 algn="ctr">
              <a:spcAft>
                <a:spcPts val="900"/>
              </a:spcAft>
              <a:defRPr sz="4600" b="1">
                <a:solidFill>
                  <a:srgbClr val="FFFFFF"/>
                </a:solidFill>
                <a:latin typeface="Aptos"/>
              </a:defRPr>
            </a:pPr>
            <a:r>
              <a:t>2.08×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3291840" cy="6400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 algn="ctr">
              <a:spcAft>
                <a:spcPts val="9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Observed / expected joint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103120"/>
            <a:ext cx="6492240" cy="256032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92040" y="2103120"/>
            <a:ext cx="50292" cy="2560320"/>
          </a:xfrm>
          <a:prstGeom prst="roundRect">
            <a:avLst/>
          </a:prstGeom>
          <a:solidFill>
            <a:srgbClr val="2E5D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2276856"/>
            <a:ext cx="6126479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E5D95"/>
                </a:solidFill>
                <a:latin typeface="Aptos"/>
              </a:defRPr>
            </a:pPr>
            <a:r>
              <a:t>11 JOINT ERRORS vs 5.3 EXPECTED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907791"/>
            <a:ext cx="6080759" cy="1645919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On 37 eligible-patient cited items, the human and an independent model were both wrong more often than independence predicts.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058400" cy="7315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11223A"/>
                </a:solidFill>
                <a:latin typeface="Aptos"/>
              </a:defRPr>
            </a:pPr>
            <a:r>
              <a:t>Implication: agreement alone is not independent evidence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RESULTS SO FAR • PRIOR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>Finding 3 — Broad routing is costly and incomplete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81912"/>
            <a:ext cx="10972800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977"/>
                </a:solidFill>
                <a:latin typeface="Aptos"/>
              </a:defRPr>
            </a:pPr>
            <a:r>
              <a:t>Frozen SIGIR evidence-availability routing (descriptive operating point)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2624328" cy="169164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96896"/>
            <a:ext cx="2377440" cy="6858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 algn="ctr">
              <a:spcAft>
                <a:spcPts val="900"/>
              </a:spcAft>
              <a:defRPr sz="3100" b="1">
                <a:solidFill>
                  <a:srgbClr val="008583"/>
                </a:solidFill>
                <a:latin typeface="Aptos"/>
              </a:defRPr>
            </a:pPr>
            <a:r>
              <a:t>95 / 144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447288"/>
            <a:ext cx="2377440" cy="3657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 algn="ctr">
              <a:spcAft>
                <a:spcPts val="900"/>
              </a:spcAft>
              <a:defRPr sz="1500" b="0">
                <a:solidFill>
                  <a:srgbClr val="596977"/>
                </a:solidFill>
                <a:latin typeface="Aptos"/>
              </a:defRPr>
            </a:pPr>
            <a:r>
              <a:t>items routed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286000"/>
            <a:ext cx="2624328" cy="169164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596896"/>
            <a:ext cx="2377440" cy="6858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 algn="ctr">
              <a:spcAft>
                <a:spcPts val="900"/>
              </a:spcAft>
              <a:defRPr sz="3100" b="1">
                <a:solidFill>
                  <a:srgbClr val="008583"/>
                </a:solidFill>
                <a:latin typeface="Aptos"/>
              </a:defRPr>
            </a:pPr>
            <a:r>
              <a:t>68.7%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447288"/>
            <a:ext cx="2377440" cy="3657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 algn="ctr">
              <a:spcAft>
                <a:spcPts val="900"/>
              </a:spcAft>
              <a:defRPr sz="1500" b="0">
                <a:solidFill>
                  <a:srgbClr val="596977"/>
                </a:solidFill>
                <a:latin typeface="Aptos"/>
              </a:defRPr>
            </a:pPr>
            <a:r>
              <a:t>sensitivity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286000"/>
            <a:ext cx="2624328" cy="169164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596896"/>
            <a:ext cx="2377440" cy="6858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 algn="ctr">
              <a:spcAft>
                <a:spcPts val="900"/>
              </a:spcAft>
              <a:defRPr sz="3100" b="1">
                <a:solidFill>
                  <a:srgbClr val="008583"/>
                </a:solidFill>
                <a:latin typeface="Aptos"/>
              </a:defRPr>
            </a:pPr>
            <a:r>
              <a:t>44.8%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447288"/>
            <a:ext cx="2377440" cy="3657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 algn="ctr">
              <a:spcAft>
                <a:spcPts val="900"/>
              </a:spcAft>
              <a:defRPr sz="1500" b="0">
                <a:solidFill>
                  <a:srgbClr val="596977"/>
                </a:solidFill>
                <a:latin typeface="Aptos"/>
              </a:defRPr>
            </a:pPr>
            <a:r>
              <a:t>specificity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2286000"/>
            <a:ext cx="2624328" cy="169164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596896"/>
            <a:ext cx="2377440" cy="6858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 algn="ctr">
              <a:spcAft>
                <a:spcPts val="900"/>
              </a:spcAft>
              <a:defRPr sz="3100" b="1">
                <a:solidFill>
                  <a:srgbClr val="008583"/>
                </a:solidFill>
                <a:latin typeface="Aptos"/>
              </a:defRPr>
            </a:pPr>
            <a:r>
              <a:t>56.8%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3447288"/>
            <a:ext cx="2377440" cy="3657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 algn="ctr">
              <a:spcAft>
                <a:spcPts val="900"/>
              </a:spcAft>
              <a:defRPr sz="1500" b="0">
                <a:solidFill>
                  <a:srgbClr val="596977"/>
                </a:solidFill>
                <a:latin typeface="Aptos"/>
              </a:defRPr>
            </a:pPr>
            <a:r>
              <a:t>balanced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10424160" cy="10515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1223A"/>
                </a:solidFill>
                <a:latin typeface="Aptos"/>
              </a:defRPr>
            </a:pPr>
            <a:r>
              <a:t>NPV = 26.5%  •  Review workload = 65.97%</a:t>
            </a:r>
          </a:p>
          <a:p>
            <a:pPr>
              <a:spcAft>
                <a:spcPts val="900"/>
              </a:spcAft>
              <a:defRPr sz="2000" b="1">
                <a:solidFill>
                  <a:srgbClr val="11223A"/>
                </a:solidFill>
                <a:latin typeface="Aptos"/>
              </a:defRPr>
            </a:pPr>
            <a:r>
              <a:t>Motivation: use decision impact to spend checking effort where it matters.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>Datasets and evaluation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81912"/>
            <a:ext cx="10972800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977"/>
                </a:solidFill>
                <a:latin typeface="Aptos"/>
              </a:defRPr>
            </a:pPr>
            <a:r>
              <a:t>Use the supplied reviewed criteria — never split free-text trial rules yourself.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5212080" cy="306324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50292" cy="3063240"/>
          </a:xfrm>
          <a:prstGeom prst="roundRect">
            <a:avLst/>
          </a:prstGeom>
          <a:solidFill>
            <a:srgbClr val="2E5D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322576"/>
            <a:ext cx="48463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E5D95"/>
                </a:solidFill>
                <a:latin typeface="Aptos"/>
              </a:defRPr>
            </a:pPr>
            <a:r>
              <a:t>NSCLC-100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953512"/>
            <a:ext cx="4800600" cy="21488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100 patient–trial pairs • 10 trials</a:t>
            </a:r>
          </a:p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223 reviewed rules • 2,230 rule answers</a:t>
            </a:r>
          </a:p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50 dev / 50 test, split by trial</a:t>
            </a:r>
          </a:p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446 assigned annotation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48840"/>
            <a:ext cx="5212080" cy="306324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2148840"/>
            <a:ext cx="50292" cy="3063240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322576"/>
            <a:ext cx="48463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8583"/>
                </a:solidFill>
                <a:latin typeface="Aptos"/>
              </a:defRPr>
            </a:pPr>
            <a:r>
              <a:t>SIGIR-204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953512"/>
            <a:ext cx="4800600" cy="21488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204 patient–trial pairs • 14 patients</a:t>
            </a:r>
          </a:p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1,911 reviewed rules • 100 Eligible / 104 Not Eligible</a:t>
            </a:r>
          </a:p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102 dev / 102 test, split by patient</a:t>
            </a:r>
          </a:p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203 assigned annotation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424160" cy="5486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977"/>
                </a:solidFill>
                <a:latin typeface="Aptos"/>
              </a:defRPr>
            </a:pPr>
            <a:r>
              <a:t>Report datasets separately; use trial-level clustering for NSCLC and patient-level clustering for SIGIR.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METHODS •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>Proposed system: check, prioritize, and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81912"/>
            <a:ext cx="10972800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977"/>
                </a:solidFill>
                <a:latin typeface="Aptos"/>
              </a:defRPr>
            </a:pPr>
            <a:r>
              <a:t>This is the planned student system; the supplied kit currently provides baseline and evaluation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2377440"/>
            <a:ext cx="2679192" cy="283464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72" y="2377440"/>
            <a:ext cx="50292" cy="2834640"/>
          </a:xfrm>
          <a:prstGeom prst="roundRect">
            <a:avLst/>
          </a:prstGeom>
          <a:solidFill>
            <a:srgbClr val="2E5D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551176"/>
            <a:ext cx="2313432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E5D95"/>
                </a:solidFill>
                <a:latin typeface="Aptos"/>
              </a:defRPr>
            </a:pPr>
            <a:r>
              <a:t>1. AI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182112"/>
            <a:ext cx="2267712" cy="19202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Plain AI or forced-guess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2377440"/>
            <a:ext cx="2679192" cy="283464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02152" y="2377440"/>
            <a:ext cx="50292" cy="2834640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4" y="2551176"/>
            <a:ext cx="2313432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008583"/>
                </a:solidFill>
                <a:latin typeface="Aptos"/>
              </a:defRPr>
            </a:pPr>
            <a:r>
              <a:t>2. EVIDENCE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4" y="3182112"/>
            <a:ext cx="2267712" cy="19202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Flag unsupported or misread answers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8232" y="2377440"/>
            <a:ext cx="2679192" cy="283464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28232" y="2377440"/>
            <a:ext cx="50292" cy="2834640"/>
          </a:xfrm>
          <a:prstGeom prst="roundRect">
            <a:avLst/>
          </a:prstGeom>
          <a:solidFill>
            <a:srgbClr val="BE7F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4" y="2551176"/>
            <a:ext cx="2313432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BE7F28"/>
                </a:solidFill>
                <a:latin typeface="Aptos"/>
              </a:defRPr>
            </a:pPr>
            <a:r>
              <a:t>3. DECISION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3182112"/>
            <a:ext cx="2267712" cy="19202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Estimate which errors could change eligibility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54312" y="2377440"/>
            <a:ext cx="2679192" cy="283464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54312" y="2377440"/>
            <a:ext cx="50292" cy="2834640"/>
          </a:xfrm>
          <a:prstGeom prst="roundRect">
            <a:avLst/>
          </a:prstGeom>
          <a:solidFill>
            <a:srgbClr val="B340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64624" y="2551176"/>
            <a:ext cx="2313432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B34043"/>
                </a:solidFill>
                <a:latin typeface="Aptos"/>
              </a:defRPr>
            </a:pPr>
            <a:r>
              <a:t>4. HUMAN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4624" y="3182112"/>
            <a:ext cx="2267712" cy="19202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Prioritize review; repair or defer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3891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1223A"/>
                </a:solidFill>
                <a:latin typeface="Aptos"/>
              </a:defRPr>
            </a:pPr>
            <a:r>
              <a:t>Primary objective: wrongly excluded eligible pairs rescued per 10 checks.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METHODS • EVIDENCE CHECKER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>Six checks for every generated rule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84831"/>
            <a:ext cx="3675887" cy="1435608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267712"/>
            <a:ext cx="530352" cy="38404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00858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240279"/>
            <a:ext cx="2743200" cy="402336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1223A"/>
                </a:solidFill>
                <a:latin typeface="Aptos"/>
              </a:defRPr>
            </a:pPr>
            <a:r>
              <a:t>Citation existence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752344"/>
            <a:ext cx="2724912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96977"/>
                </a:solidFill>
                <a:latin typeface="Aptos"/>
              </a:defRPr>
            </a:pPr>
            <a:r>
              <a:t>Exact or fuzzy quote match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2855" y="2084831"/>
            <a:ext cx="3675887" cy="1435608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7" y="2267712"/>
            <a:ext cx="530352" cy="38404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00858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2240279"/>
            <a:ext cx="2743200" cy="402336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1223A"/>
                </a:solidFill>
                <a:latin typeface="Aptos"/>
              </a:defRPr>
            </a:pPr>
            <a:r>
              <a:t>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2752344"/>
            <a:ext cx="2724912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96977"/>
                </a:solidFill>
                <a:latin typeface="Aptos"/>
              </a:defRPr>
            </a:pPr>
            <a:r>
              <a:t>Does evidence entail the claim?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67344" y="2084831"/>
            <a:ext cx="3675887" cy="1435608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2267712"/>
            <a:ext cx="530352" cy="38404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00858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2240279"/>
            <a:ext cx="2743200" cy="402336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1223A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752344"/>
            <a:ext cx="2724912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96977"/>
                </a:solidFill>
                <a:latin typeface="Aptos"/>
              </a:defRPr>
            </a:pPr>
            <a:r>
              <a:t>Negation, history, family, hypothetical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76472"/>
            <a:ext cx="3675887" cy="1435608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959352"/>
            <a:ext cx="530352" cy="38404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00858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3931920"/>
            <a:ext cx="2743200" cy="402336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1223A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" y="4443983"/>
            <a:ext cx="2724912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96977"/>
                </a:solidFill>
                <a:latin typeface="Aptos"/>
              </a:defRPr>
            </a:pPr>
            <a:r>
              <a:t>Inclusion/exclusion and numeric thresholds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2855" y="3776472"/>
            <a:ext cx="3675887" cy="1435608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7" y="3959352"/>
            <a:ext cx="530352" cy="38404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00858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931920"/>
            <a:ext cx="2743200" cy="402336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1223A"/>
                </a:solidFill>
                <a:latin typeface="Aptos"/>
              </a:defRPr>
            </a:pPr>
            <a:r>
              <a:t>Contradiction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4443983"/>
            <a:ext cx="2724912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96977"/>
                </a:solidFill>
                <a:latin typeface="Aptos"/>
              </a:defRPr>
            </a:pPr>
            <a:r>
              <a:t>Conflicting facts elsewhere in the note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67344" y="3776472"/>
            <a:ext cx="3675887" cy="1435608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31936" y="3959352"/>
            <a:ext cx="530352" cy="38404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00858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3931920"/>
            <a:ext cx="2743200" cy="402336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1223A"/>
                </a:solidFill>
                <a:latin typeface="Aptos"/>
              </a:defRPr>
            </a:pPr>
            <a:r>
              <a:t>Missed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4443983"/>
            <a:ext cx="2724912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96977"/>
                </a:solidFill>
                <a:latin typeface="Aptos"/>
              </a:defRPr>
            </a:pPr>
            <a:r>
              <a:t>Deciding evidence overlooked for UNKNOWN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METHODS •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>Decision impact: not every wrong answer matters equally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81912"/>
            <a:ext cx="10972800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977"/>
                </a:solidFill>
                <a:latin typeface="Aptos"/>
              </a:defRPr>
            </a:pPr>
            <a:r>
              <a:t>A sole rejection reason is particularly important to inspect.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5212080" cy="288036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0292" cy="2880360"/>
          </a:xfrm>
          <a:prstGeom prst="roundRect">
            <a:avLst/>
          </a:prstGeom>
          <a:solidFill>
            <a:srgbClr val="B340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368296"/>
            <a:ext cx="48463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B34043"/>
                </a:solidFill>
                <a:latin typeface="Aptos"/>
              </a:defRPr>
            </a:pPr>
            <a:r>
              <a:t>SOLE REJECTION REASON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999232"/>
            <a:ext cx="4800600" cy="19659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One AI rule answer is the only reason the pair is rejected. If that answer is wrong, correcting it may change the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94560"/>
            <a:ext cx="5212080" cy="288036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2194560"/>
            <a:ext cx="50292" cy="2880360"/>
          </a:xfrm>
          <a:prstGeom prst="roundRect">
            <a:avLst/>
          </a:prstGeom>
          <a:solidFill>
            <a:srgbClr val="2E5D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368296"/>
            <a:ext cx="48463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2E5D95"/>
                </a:solidFill>
                <a:latin typeface="Aptos"/>
              </a:defRPr>
            </a:pPr>
            <a:r>
              <a:t>MULTIPLE REJECTION REASONS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999232"/>
            <a:ext cx="4800600" cy="19659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Correcting one wrong answer may not change eligibility when other valid rejection reasons remain.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11223A"/>
                </a:solidFill>
                <a:latin typeface="Aptos"/>
              </a:defRPr>
            </a:pPr>
            <a:r>
              <a:t>Rank by checker warnings + counterfactual decision impact, not confidence alone.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METHODS • PLANNED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>Compare priority strategies at equal review budgets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81912"/>
            <a:ext cx="10972800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977"/>
                </a:solidFill>
                <a:latin typeface="Aptos"/>
              </a:defRPr>
            </a:pPr>
            <a:r>
              <a:t>Review budgets: 5, 10, 20, 50, and 100 criterion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84831"/>
            <a:ext cx="10652760" cy="59436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76272"/>
            <a:ext cx="3200400" cy="39319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008583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76272"/>
            <a:ext cx="6583680" cy="39319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Fixed-seed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79776"/>
            <a:ext cx="10652760" cy="59436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871216"/>
            <a:ext cx="3200400" cy="39319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008583"/>
                </a:solidFill>
                <a:latin typeface="Aptos"/>
              </a:defRPr>
            </a:pPr>
            <a:r>
              <a:t>Low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71216"/>
            <a:ext cx="6583680" cy="39319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Least confident first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74720"/>
            <a:ext cx="10652760" cy="59436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566160"/>
            <a:ext cx="3200400" cy="39319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008583"/>
                </a:solidFill>
                <a:latin typeface="Aptos"/>
              </a:defRPr>
            </a:pPr>
            <a:r>
              <a:t>Checker flags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566160"/>
            <a:ext cx="6583680" cy="39319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Flagged answers 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69664"/>
            <a:ext cx="10652760" cy="59436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261104"/>
            <a:ext cx="3200400" cy="39319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008583"/>
                </a:solidFill>
                <a:latin typeface="Aptos"/>
              </a:defRPr>
            </a:pPr>
            <a:r>
              <a:t>Decision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261104"/>
            <a:ext cx="6583680" cy="39319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Fewest rejection reasons first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64608"/>
            <a:ext cx="10652760" cy="59436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956048"/>
            <a:ext cx="3200400" cy="39319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008583"/>
                </a:solidFill>
                <a:latin typeface="Aptos"/>
              </a:defRPr>
            </a:pPr>
            <a:r>
              <a:t>Combined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956048"/>
            <a:ext cx="6583680" cy="39319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Warnings + decision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515600" cy="38404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1223A"/>
                </a:solidFill>
                <a:latin typeface="Aptos"/>
              </a:defRPr>
            </a:pPr>
            <a:r>
              <a:t>Compare rescued eligible pairs per 10 checks, wrongful inclusions, and review workload.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METHODS • PLANNED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>Controlled traps and safe intervention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5212080" cy="333756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50292" cy="3337560"/>
          </a:xfrm>
          <a:prstGeom prst="roundRect">
            <a:avLst/>
          </a:prstGeom>
          <a:solidFill>
            <a:srgbClr val="2E5D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322576"/>
            <a:ext cx="48463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2E5D95"/>
                </a:solidFill>
                <a:latin typeface="Aptos"/>
              </a:defRPr>
            </a:pPr>
            <a:r>
              <a:t>SEVEN TRAP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953512"/>
            <a:ext cx="4800600" cy="24231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Negation • Family history • Hypothetical</a:t>
            </a:r>
          </a:p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Old value • Contradiction</a:t>
            </a:r>
          </a:p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Removed evidence • Threshold shift</a:t>
            </a:r>
          </a:p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Hand-check expected answers before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48840"/>
            <a:ext cx="5212080" cy="333756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148840"/>
            <a:ext cx="50292" cy="3337560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22576"/>
            <a:ext cx="48463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008583"/>
                </a:solidFill>
                <a:latin typeface="Aptos"/>
              </a:defRPr>
            </a:pPr>
            <a:r>
              <a:t>THREE RESPONSE 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953512"/>
            <a:ext cx="4800600" cy="24231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Keep original answer</a:t>
            </a:r>
          </a:p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Defer: replace with UNKNOWN and review</a:t>
            </a:r>
          </a:p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Re-ask once with feedback; retain only if verified</a:t>
            </a:r>
          </a:p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Count correct answers broken as well as wrong answers fixed.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RESULTS / 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81912"/>
            <a:ext cx="10972800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977"/>
                </a:solidFill>
                <a:latin typeface="Aptos"/>
              </a:defRPr>
            </a:pPr>
            <a: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5212080" cy="333756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057400"/>
            <a:ext cx="50292" cy="3337560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231136"/>
            <a:ext cx="48463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008583"/>
                </a:solidFill>
                <a:latin typeface="Aptos"/>
              </a:defRPr>
            </a:pPr>
            <a:r>
              <a:t>AVAILABLE / 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62072"/>
            <a:ext cx="4800600" cy="24231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1223A"/>
                </a:solidFill>
                <a:latin typeface="Aptos"/>
              </a:defRPr>
            </a:pPr>
            <a:r>
              <a:t/>
            </a:r>
          </a:p>
          <a:p>
            <a:pPr>
              <a:spcAft>
                <a:spcPts val="900"/>
              </a:spcAft>
              <a:defRPr sz="1600" b="0">
                <a:solidFill>
                  <a:srgbClr val="11223A"/>
                </a:solidFill>
                <a:latin typeface="Aptos"/>
              </a:defRPr>
            </a:pPr>
            <a:r>
              <a:t/>
            </a:r>
          </a:p>
          <a:p>
            <a:pPr>
              <a:spcAft>
                <a:spcPts val="900"/>
              </a:spcAft>
              <a:defRPr sz="1600" b="0">
                <a:solidFill>
                  <a:srgbClr val="11223A"/>
                </a:solidFill>
                <a:latin typeface="Aptos"/>
              </a:defRPr>
            </a:pPr>
            <a:r>
              <a:t/>
            </a:r>
          </a:p>
          <a:p>
            <a:pPr>
              <a:spcAft>
                <a:spcPts val="900"/>
              </a:spcAft>
              <a:defRPr sz="1600" b="0">
                <a:solidFill>
                  <a:srgbClr val="11223A"/>
                </a:solidFill>
                <a:latin typeface="Aptos"/>
              </a:defRPr>
            </a:pPr>
            <a: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5212080" cy="333756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2057400"/>
            <a:ext cx="50292" cy="3337560"/>
          </a:xfrm>
          <a:prstGeom prst="roundRect">
            <a:avLst/>
          </a:prstGeom>
          <a:solidFill>
            <a:srgbClr val="B340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231136"/>
            <a:ext cx="48463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B34043"/>
                </a:solidFill>
                <a:latin typeface="Aptos"/>
              </a:defRPr>
            </a:pPr>
            <a:r>
              <a:t>NOT YET 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862072"/>
            <a:ext cx="4800600" cy="24231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/>
            </a:r>
          </a:p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/>
            </a:r>
          </a:p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/>
            </a:r>
          </a:p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05856"/>
            <a:ext cx="10332720" cy="4114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596977"/>
                </a:solidFill>
                <a:latin typeface="Aptos"/>
              </a:defRPr>
            </a:pPr>
            <a: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DISCUSSION •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>Future work: from prepared framework to evaluated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29968"/>
            <a:ext cx="10607040" cy="77724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2167128"/>
            <a:ext cx="1554480" cy="42062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8583"/>
                </a:solidFill>
                <a:latin typeface="Aptos"/>
              </a:defRPr>
            </a:pPr>
            <a:r>
              <a:t>K1–K2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67128"/>
            <a:ext cx="8412480" cy="4572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Complete/freeze annotations; run plain AI and forced-guess baselines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62656"/>
            <a:ext cx="10607040" cy="77724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3099816"/>
            <a:ext cx="1554480" cy="42062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8583"/>
                </a:solidFill>
                <a:latin typeface="Aptos"/>
              </a:defRPr>
            </a:pPr>
            <a:r>
              <a:t>K3–K4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099816"/>
            <a:ext cx="8412480" cy="4572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Implement six checks; compare fixed-budget review strategies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95344"/>
            <a:ext cx="10607040" cy="77724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4032504"/>
            <a:ext cx="1554480" cy="42062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8583"/>
                </a:solidFill>
                <a:latin typeface="Aptos"/>
              </a:defRPr>
            </a:pPr>
            <a:r>
              <a:t>K5–K7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032504"/>
            <a:ext cx="8412480" cy="4572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Build traps; compare repair/deferral; rank risky rejections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828032"/>
            <a:ext cx="10607040" cy="77724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5" y="4965192"/>
            <a:ext cx="1554480" cy="42062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8583"/>
                </a:solidFill>
                <a:latin typeface="Aptos"/>
              </a:defRPr>
            </a:pPr>
            <a:r>
              <a:t>K8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965192"/>
            <a:ext cx="8412480" cy="4572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223A"/>
                </a:solidFill>
                <a:latin typeface="Aptos"/>
              </a:defRPr>
            </a:pPr>
            <a:r>
              <a:t>Freeze configuration; transfer to SIGIR; compare with rule-count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80176"/>
            <a:ext cx="10241280" cy="33832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1223A"/>
                </a:solidFill>
                <a:latin typeface="Aptos"/>
              </a:defRPr>
            </a:pPr>
            <a:r>
              <a:t>Success requires more eligible pairs rescued at equal cost without unacceptable wrongful inclusion.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DISCUSSION •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>Discussion: what if the approach does not help?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76272"/>
            <a:ext cx="5212080" cy="3182112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76272"/>
            <a:ext cx="50292" cy="3182112"/>
          </a:xfrm>
          <a:prstGeom prst="roundRect">
            <a:avLst/>
          </a:prstGeom>
          <a:solidFill>
            <a:srgbClr val="B340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350008"/>
            <a:ext cx="48463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B34043"/>
                </a:solidFill>
                <a:latin typeface="Aptos"/>
              </a:defRPr>
            </a:pPr>
            <a:r>
              <a:t>POSSIBLE NEGATIVE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980944"/>
            <a:ext cx="4800600" cy="226771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Checker may flag too many answers.</a:t>
            </a:r>
          </a:p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Local error detection may not rescue patients.</a:t>
            </a:r>
          </a:p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Automated repair may break correct answers.</a:t>
            </a:r>
          </a:p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SIGIR notes may lack deciding facts.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76272"/>
            <a:ext cx="5212080" cy="3182112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176272"/>
            <a:ext cx="50292" cy="3182112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50008"/>
            <a:ext cx="4846320" cy="5303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8583"/>
                </a:solidFill>
                <a:latin typeface="Aptos"/>
              </a:defRPr>
            </a:pPr>
            <a:r>
              <a:t>SCIENTIFIC 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980944"/>
            <a:ext cx="4800600" cy="226771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Report null or negative results.</a:t>
            </a:r>
          </a:p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Prefer deferral if repair causes harm.</a:t>
            </a:r>
          </a:p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Keep NSCLC and SIGIR separate.</a:t>
            </a:r>
          </a:p>
          <a:p>
            <a:pPr>
              <a:spcAft>
                <a:spcPts val="900"/>
              </a:spcAft>
              <a:defRPr sz="1800" b="0">
                <a:solidFill>
                  <a:srgbClr val="11223A"/>
                </a:solidFill>
                <a:latin typeface="Aptos"/>
              </a:defRPr>
            </a:pPr>
            <a:r>
              <a:t>Do not claim clinical readiness.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424160" cy="4754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1223A"/>
                </a:solidFill>
                <a:latin typeface="Aptos"/>
              </a:defRPr>
            </a:pPr>
            <a:r>
              <a:t>Research question: does targeted checking improve patient-level decisions under limited human review?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85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583"/>
                </a:solidFill>
                <a:latin typeface="Aptos"/>
              </a:defRPr>
            </a:pPr>
            <a: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1223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81912"/>
            <a:ext cx="10972800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977"/>
                </a:solidFill>
                <a:latin typeface="Aptos"/>
              </a:defRPr>
            </a:pPr>
            <a:r>
              <a:t>Decision-aware evidence checking for clinical-trial eligibility screening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6473952"/>
            <a:ext cx="10972800" cy="13716"/>
          </a:xfrm>
          <a:prstGeom prst="roundRect">
            <a:avLst/>
          </a:prstGeom>
          <a:solidFill>
            <a:srgbClr val="D8E0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SOURCE: Project Manager guidance • Akash project kit | 11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977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10287000" cy="2194560"/>
          </a:xfrm>
          <a:prstGeom prst="round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880360"/>
            <a:ext cx="9509760" cy="10972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 algn="ctr">
              <a:spcAft>
                <a:spcPts val="9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Check what can change the outcome.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983480"/>
            <a:ext cx="9601200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 algn="ctr">
              <a:spcAft>
                <a:spcPts val="900"/>
              </a:spcAft>
              <a:defRPr sz="1900" b="0">
                <a:solidFill>
                  <a:srgbClr val="596977"/>
                </a:solidFill>
                <a:latin typeface="Aptos"/>
              </a:defRPr>
            </a:pPr>
            <a:r>
              <a:t>MTP Mid-Evaluation  •  12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