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10A2C-AE43-4D9E-8B79-3E45E63563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9853A-5E55-4A14-A771-CBEF46D272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79032-8619-4714-A568-DB40D9FEEB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C4D6B-EF53-434F-9D2F-1F43AE51B2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9519CA-0DCC-473E-92CF-8F5BE8D533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7FDC0-8674-45CF-A632-314EEDD70E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7FC6A8-7380-46BA-AB83-1115733FEE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290F79-2513-4497-8A1B-C1F3E16D5D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86DE5-57A7-4995-A4DD-D69057484A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9E7482-ADC7-4818-84C9-FBD4A0CF52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3C81F-CFC2-4040-8105-5C1131A6AC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9DC30F-8BE0-496F-B4C1-DAF684BA695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 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8F0F69-0A64-4A92-942E-74242D371EF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21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MTP PROGRESS PRESENTATION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Check What Can Change the Outcome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13160" y="1554480"/>
            <a:ext cx="10789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500" spc="-1" strike="noStrike">
                <a:solidFill>
                  <a:srgbClr val="555e68"/>
                </a:solidFill>
                <a:latin typeface="Arial"/>
              </a:rPr>
              <a:t>Targeted evidence checking for AI-based clinical-trial screening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749880" y="2743200"/>
            <a:ext cx="960084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300" spc="-1" strike="noStrike">
                <a:solidFill>
                  <a:srgbClr val="1d3044"/>
                </a:solidFill>
                <a:latin typeface="Arial"/>
              </a:rPr>
              <a:t>Akash Mogili</a:t>
            </a:r>
            <a:endParaRPr b="0" lang="en-GB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300" spc="-1" strike="noStrike">
                <a:solidFill>
                  <a:srgbClr val="1d3044"/>
                </a:solidFill>
                <a:latin typeface="Arial"/>
              </a:rPr>
              <a:t>B.Tech CSE  |  IIT Mandi</a:t>
            </a:r>
            <a:endParaRPr b="0" lang="en-GB" sz="23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749880" y="5212080"/>
            <a:ext cx="10058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700" spc="-1" strike="noStrike">
                <a:solidFill>
                  <a:srgbClr val="555e68"/>
                </a:solidFill>
                <a:latin typeface="Arial"/>
              </a:rPr>
              <a:t>Technical validation, prior evidence, proposed methods and next steps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INTRODUCTION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Why checking matters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51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2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960120" y="1828800"/>
            <a:ext cx="10423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An AI model answers trial eligibility rules using a patient note.</a:t>
            </a:r>
            <a:endParaRPr b="0" lang="en-GB" sz="2100" spc="-1" strike="noStrike"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960120" y="2606040"/>
            <a:ext cx="10423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A plausible citation does not guarantee that the answer is supported.</a:t>
            </a:r>
            <a:endParaRPr b="0" lang="en-GB" sz="2100" spc="-1" strike="noStrike">
              <a:latin typeface="Arial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960120" y="3383280"/>
            <a:ext cx="10423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A single incorrect rejection reason may exclude an eligible patient.</a:t>
            </a:r>
            <a:endParaRPr b="0" lang="en-GB" sz="2100" spc="-1" strike="noStrike">
              <a:latin typeface="Arial"/>
            </a:endParaRPr>
          </a:p>
        </p:txBody>
      </p:sp>
      <p:sp>
        <p:nvSpPr>
          <p:cNvPr id="57" name="TextBox 9"/>
          <p:cNvSpPr/>
          <p:nvPr/>
        </p:nvSpPr>
        <p:spPr>
          <a:xfrm>
            <a:off x="960120" y="4160520"/>
            <a:ext cx="10423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100" spc="-1" strike="noStrike">
                <a:solidFill>
                  <a:srgbClr val="1d3044"/>
                </a:solidFill>
                <a:latin typeface="Arial"/>
              </a:rPr>
              <a:t>Our focus: check the answers most likely to change the final decision.</a:t>
            </a:r>
            <a:endParaRPr b="0" lang="en-GB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2"/>
          <p:cNvSpPr/>
          <p:nvPr/>
        </p:nvSpPr>
        <p:spPr>
          <a:xfrm>
            <a:off x="502920" y="320040"/>
            <a:ext cx="10698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Screening workflow and where checking helps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530280" y="941760"/>
            <a:ext cx="10698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Conceptual process — proposed verification component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502920" y="6455520"/>
            <a:ext cx="9143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62" name="Rounded Rectangle 5"/>
          <p:cNvSpPr/>
          <p:nvPr/>
        </p:nvSpPr>
        <p:spPr>
          <a:xfrm>
            <a:off x="530280" y="2011680"/>
            <a:ext cx="2349720" cy="12798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6"/>
          <p:cNvSpPr/>
          <p:nvPr/>
        </p:nvSpPr>
        <p:spPr>
          <a:xfrm>
            <a:off x="649080" y="2231280"/>
            <a:ext cx="212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Patient note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649080" y="266076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Clinical evidence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2898720" y="2423160"/>
            <a:ext cx="502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007680"/>
                </a:solidFill>
                <a:latin typeface="Arial"/>
              </a:rPr>
              <a:t>→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66" name="Rounded Rectangle 9"/>
          <p:cNvSpPr/>
          <p:nvPr/>
        </p:nvSpPr>
        <p:spPr>
          <a:xfrm>
            <a:off x="3346560" y="2011680"/>
            <a:ext cx="2349720" cy="12798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65720" y="2231280"/>
            <a:ext cx="212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AI rule answer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3465720" y="266076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yes / no / unknown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5715000" y="2423160"/>
            <a:ext cx="502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007680"/>
                </a:solidFill>
                <a:latin typeface="Arial"/>
              </a:rPr>
              <a:t>→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70" name="Rounded Rectangle 13"/>
          <p:cNvSpPr/>
          <p:nvPr/>
        </p:nvSpPr>
        <p:spPr>
          <a:xfrm>
            <a:off x="6163200" y="2011680"/>
            <a:ext cx="2349720" cy="12798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14"/>
          <p:cNvSpPr/>
          <p:nvPr/>
        </p:nvSpPr>
        <p:spPr>
          <a:xfrm>
            <a:off x="6282000" y="2231280"/>
            <a:ext cx="212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Evidence checks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6282000" y="2660760"/>
            <a:ext cx="2121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Six verification tests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73" name="TextBox 16"/>
          <p:cNvSpPr/>
          <p:nvPr/>
        </p:nvSpPr>
        <p:spPr>
          <a:xfrm>
            <a:off x="8531280" y="2423160"/>
            <a:ext cx="502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007680"/>
                </a:solidFill>
                <a:latin typeface="Arial"/>
              </a:rPr>
              <a:t>→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74" name="Rounded Rectangle 17"/>
          <p:cNvSpPr/>
          <p:nvPr/>
        </p:nvSpPr>
        <p:spPr>
          <a:xfrm>
            <a:off x="8979480" y="2011680"/>
            <a:ext cx="2349720" cy="12798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18"/>
          <p:cNvSpPr/>
          <p:nvPr/>
        </p:nvSpPr>
        <p:spPr>
          <a:xfrm>
            <a:off x="9098280" y="2231280"/>
            <a:ext cx="212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Final decision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9098280" y="2660760"/>
            <a:ext cx="2121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Eligible / Review / Not eligible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77" name="Rounded Rectangle 20"/>
          <p:cNvSpPr/>
          <p:nvPr/>
        </p:nvSpPr>
        <p:spPr>
          <a:xfrm>
            <a:off x="3328560" y="3886200"/>
            <a:ext cx="5166000" cy="712800"/>
          </a:xfrm>
          <a:prstGeom prst="roundRect">
            <a:avLst>
              <a:gd name="adj" fmla="val 16667"/>
            </a:avLst>
          </a:prstGeom>
          <a:solidFill>
            <a:srgbClr val="f5f9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21"/>
          <p:cNvSpPr/>
          <p:nvPr/>
        </p:nvSpPr>
        <p:spPr>
          <a:xfrm>
            <a:off x="3511440" y="4041720"/>
            <a:ext cx="4800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007680"/>
                </a:solidFill>
                <a:latin typeface="Arial"/>
              </a:rPr>
              <a:t>Prioritize errors that could change eligibility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BACKGROUND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Two related research directions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3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822960" y="1828800"/>
            <a:ext cx="493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Ask Instead of Guess — Aman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6355080" y="1828800"/>
            <a:ext cx="484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Check What Can Change — Akash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914400" y="2468880"/>
            <a:ext cx="480024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Identify missing information.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Keep UNKNOWN when evidence is insufficient.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Ask focused follow-up questions.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6400800" y="2468880"/>
            <a:ext cx="4708800" cy="12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Verify AI rule answers.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Identify evidence and reasoning errors.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Prioritize checks by decision impact.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914400" y="566928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300" spc="-1" strike="noStrike">
                <a:solidFill>
                  <a:srgbClr val="555e68"/>
                </a:solidFill>
                <a:latin typeface="Arial"/>
              </a:rPr>
              <a:t>Both projects use the NSCLC and SIGIR clinical-trial screening resources.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PRIOR LABORATORY FINDINGS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Why a checker is needed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960120" y="182880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Historical NSCLC audit: 77 of 151 model-cited violations were genuine (50.99%).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960120" y="260604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Historical human–model study: 11 joint errors versus 5.3 expected (2.08×).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960120" y="338328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Frozen SIGIR study: 95 of 144 items routed for review (65.97% workload).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960120" y="416052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These findings are prior laboratory evidence, not results from our new checker.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2"/>
          <p:cNvSpPr/>
          <p:nvPr/>
        </p:nvSpPr>
        <p:spPr>
          <a:xfrm>
            <a:off x="502920" y="320040"/>
            <a:ext cx="10698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Why targeted verification matters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30280" y="941760"/>
            <a:ext cx="10698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Prior laboratory findings — not results of the proposed student checker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02920" y="6455520"/>
            <a:ext cx="9143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658440" y="182880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Cited violations genuine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4206240" y="1874520"/>
            <a:ext cx="4983120" cy="310680"/>
          </a:xfrm>
          <a:prstGeom prst="roundRect">
            <a:avLst>
              <a:gd name="adj" fmla="val 16667"/>
            </a:avLst>
          </a:prstGeom>
          <a:solidFill>
            <a:srgbClr val="e2e8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Rounded Rectangle 7"/>
          <p:cNvSpPr/>
          <p:nvPr/>
        </p:nvSpPr>
        <p:spPr>
          <a:xfrm>
            <a:off x="4206240" y="1874520"/>
            <a:ext cx="2540880" cy="310680"/>
          </a:xfrm>
          <a:prstGeom prst="roundRect">
            <a:avLst>
              <a:gd name="adj" fmla="val 16667"/>
            </a:avLst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TextBox 8"/>
          <p:cNvSpPr/>
          <p:nvPr/>
        </p:nvSpPr>
        <p:spPr>
          <a:xfrm>
            <a:off x="9418320" y="1810440"/>
            <a:ext cx="150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77 / 151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658440" y="329184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SIGIR routed for review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4206240" y="3337560"/>
            <a:ext cx="4983120" cy="310680"/>
          </a:xfrm>
          <a:prstGeom prst="roundRect">
            <a:avLst>
              <a:gd name="adj" fmla="val 16667"/>
            </a:avLst>
          </a:prstGeom>
          <a:solidFill>
            <a:srgbClr val="e2e8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Rounded Rectangle 11"/>
          <p:cNvSpPr/>
          <p:nvPr/>
        </p:nvSpPr>
        <p:spPr>
          <a:xfrm>
            <a:off x="4206240" y="3337560"/>
            <a:ext cx="3287520" cy="310680"/>
          </a:xfrm>
          <a:prstGeom prst="roundRect">
            <a:avLst>
              <a:gd name="adj" fmla="val 16667"/>
            </a:avLst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12"/>
          <p:cNvSpPr/>
          <p:nvPr/>
        </p:nvSpPr>
        <p:spPr>
          <a:xfrm>
            <a:off x="9418320" y="3273480"/>
            <a:ext cx="150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9304b"/>
                </a:solidFill>
                <a:latin typeface="Arial"/>
              </a:rPr>
              <a:t>95 / 144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94800" y="5074920"/>
            <a:ext cx="10332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aa4141"/>
                </a:solidFill>
                <a:latin typeface="Arial"/>
              </a:rPr>
              <a:t>Human–model errors: 11 observed together vs 5.3 expected (2.08×)</a:t>
            </a:r>
            <a:endParaRPr b="0" lang="en-GB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DATA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Two datasets and their evaluation splits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13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5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822960" y="1828800"/>
            <a:ext cx="493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NSCLC-100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6355080" y="1828800"/>
            <a:ext cx="484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SIGIR-204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914400" y="2468880"/>
            <a:ext cx="4800240" cy="20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100 patient–trial pairs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10 trials; 223 reviewed rules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2,230 criterion answers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50 development / 50 test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Split by trial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6400800" y="2468880"/>
            <a:ext cx="4708800" cy="20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204 patient–trial pairs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14 patients; 1,911 reviewed rules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100 Eligible / 104 Not Eligible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102 development / 102 test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Split by patient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914400" y="566928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300" spc="-1" strike="noStrike">
                <a:solidFill>
                  <a:srgbClr val="555e68"/>
                </a:solidFill>
                <a:latin typeface="Arial"/>
              </a:rPr>
              <a:t>Do not tune on the held-out test splits.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IMPLEMENTATION RESULTS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Technical validation completed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960120" y="182880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NSCLC starter-kit self-tests: 36 passed, 0 failed.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960120" y="260604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SIGIR package checks: 9 passed, 0 failed.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960120" y="338328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Python environment verified with NumPy 1.26.4 and Pandas 2.2.3.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960120" y="416052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Qwen2.5:7b downloaded and responded successfully via local Ollama.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960120" y="493776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Real clinical-trial inference was started; no completed model accuracy result yet.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METHODS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Baseline and evaluation pipeline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33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7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960120" y="182880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Plain AI: one local-model answer per patient–trial rule.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960120" y="260604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Each response contains yes / no / unknown and supporting quotation.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960120" y="338328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Rule polarity maps answers to met / not_met / not_stated.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960120" y="416052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Pair decision: any failed rule → NOT_ELIGIBLE; all met → ELIGIBLE; otherwise REVIEW.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960120" y="493776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Compare predictions with validated annotations and pair-level labels.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METHODS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Six planned evidence checks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43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8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960120" y="182880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1. Citation existence — is the quoted span in the note?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960120" y="260604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2. Support — does the quote justify the claimed answer?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960120" y="338328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3. Context — negation, family history, past or hypothetical events.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960120" y="416052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4. Logic — rule polarity and numerical thresholds.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960120" y="493776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5. Contradiction — conflicting evidence elsewhere in the note.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960120" y="571500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6. Missed evidence — decisive information ignored by UNKNOWN.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METHODS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Why decision impact determines priority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54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5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9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822960" y="1828800"/>
            <a:ext cx="493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Single rejection reason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6355080" y="1828800"/>
            <a:ext cx="484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Multiple rejection reasons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914400" y="2468880"/>
            <a:ext cx="4800240" cy="13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One failed criterion is the only reason for rejection.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If it is incorrect, correction could change the pair decision.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6400800" y="2468880"/>
            <a:ext cx="47088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Several failed criteria remain.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Fixing just one may not change the pair decision.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914400" y="566928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300" spc="-1" strike="noStrike">
                <a:solidFill>
                  <a:srgbClr val="555e68"/>
                </a:solidFill>
                <a:latin typeface="Arial"/>
              </a:rPr>
              <a:t>Decision impact is calculated from rule outcomes, not model confidence alone.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EXPERIMENT DESIGN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Compare checking strategies at equal budgets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10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960120" y="182880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Random selection — fixed-seed reference.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960120" y="260604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Low confidence — inspect uncertain answers first.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960120" y="338328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Checker flags — inspect suspected evidence errors first.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960120" y="416052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Decision impact — inspect pivotal rejection reasons first.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71" name="TextBox 10"/>
          <p:cNvSpPr/>
          <p:nvPr/>
        </p:nvSpPr>
        <p:spPr>
          <a:xfrm>
            <a:off x="960120" y="493776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Combined strategy — evidence warnings plus decision impact.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72" name="TextBox 11"/>
          <p:cNvSpPr/>
          <p:nvPr/>
        </p:nvSpPr>
        <p:spPr>
          <a:xfrm>
            <a:off x="960120" y="5715000"/>
            <a:ext cx="104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1d3044"/>
                </a:solidFill>
                <a:latin typeface="Arial"/>
              </a:rPr>
              <a:t>Evaluate at 5, 10, 20, 50 and 100 checks.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2"/>
          <p:cNvSpPr/>
          <p:nvPr/>
        </p:nvSpPr>
        <p:spPr>
          <a:xfrm>
            <a:off x="502920" y="320040"/>
            <a:ext cx="10698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Decision impact: a worked example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530280" y="941760"/>
            <a:ext cx="10698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Illustrative rule logic, not a measured patient result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502920" y="6455520"/>
            <a:ext cx="9143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77" name="Rounded Rectangle 5"/>
          <p:cNvSpPr/>
          <p:nvPr/>
        </p:nvSpPr>
        <p:spPr>
          <a:xfrm>
            <a:off x="621720" y="1600200"/>
            <a:ext cx="5211720" cy="347436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TextBox 6"/>
          <p:cNvSpPr/>
          <p:nvPr/>
        </p:nvSpPr>
        <p:spPr>
          <a:xfrm>
            <a:off x="877680" y="1828800"/>
            <a:ext cx="4663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9304b"/>
                </a:solidFill>
                <a:latin typeface="Arial"/>
              </a:rPr>
              <a:t>One failed rule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969120" y="245052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7680"/>
                </a:solidFill>
                <a:latin typeface="Arial"/>
              </a:rPr>
              <a:t>Rule A: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969120" y="294444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aa4141"/>
                </a:solidFill>
                <a:latin typeface="Arial"/>
              </a:rPr>
              <a:t>Rule B: NOT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969120" y="343800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7680"/>
                </a:solidFill>
                <a:latin typeface="Arial"/>
              </a:rPr>
              <a:t>Rule C: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2" name="Rounded Rectangle 10"/>
          <p:cNvSpPr/>
          <p:nvPr/>
        </p:nvSpPr>
        <p:spPr>
          <a:xfrm>
            <a:off x="877680" y="4151520"/>
            <a:ext cx="4663080" cy="5940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11"/>
          <p:cNvSpPr/>
          <p:nvPr/>
        </p:nvSpPr>
        <p:spPr>
          <a:xfrm>
            <a:off x="969120" y="4288680"/>
            <a:ext cx="44802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9304b"/>
                </a:solidFill>
                <a:latin typeface="Arial"/>
              </a:rPr>
              <a:t>Fix B → ELIGIBLE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184" name="Rounded Rectangle 12"/>
          <p:cNvSpPr/>
          <p:nvPr/>
        </p:nvSpPr>
        <p:spPr>
          <a:xfrm>
            <a:off x="6199560" y="1600200"/>
            <a:ext cx="5211720" cy="347436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TextBox 13"/>
          <p:cNvSpPr/>
          <p:nvPr/>
        </p:nvSpPr>
        <p:spPr>
          <a:xfrm>
            <a:off x="6455520" y="1828800"/>
            <a:ext cx="4663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9304b"/>
                </a:solidFill>
                <a:latin typeface="Arial"/>
              </a:rPr>
              <a:t>Two failed rules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6546960" y="245052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aa4141"/>
                </a:solidFill>
                <a:latin typeface="Arial"/>
              </a:rPr>
              <a:t>Rule A: NOT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7" name="TextBox 15"/>
          <p:cNvSpPr/>
          <p:nvPr/>
        </p:nvSpPr>
        <p:spPr>
          <a:xfrm>
            <a:off x="6546960" y="294444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aa4141"/>
                </a:solidFill>
                <a:latin typeface="Arial"/>
              </a:rPr>
              <a:t>Rule B: NOT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6546960" y="3438000"/>
            <a:ext cx="4480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700" spc="-1" strike="noStrike">
                <a:solidFill>
                  <a:srgbClr val="007680"/>
                </a:solidFill>
                <a:latin typeface="Arial"/>
              </a:rPr>
              <a:t>Rule C: MET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189" name="Rounded Rectangle 17"/>
          <p:cNvSpPr/>
          <p:nvPr/>
        </p:nvSpPr>
        <p:spPr>
          <a:xfrm>
            <a:off x="6455520" y="4151520"/>
            <a:ext cx="4663080" cy="594000"/>
          </a:xfrm>
          <a:prstGeom prst="roundRect">
            <a:avLst>
              <a:gd name="adj" fmla="val 16667"/>
            </a:avLst>
          </a:prstGeom>
          <a:solidFill>
            <a:srgbClr val="ea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TextBox 18"/>
          <p:cNvSpPr/>
          <p:nvPr/>
        </p:nvSpPr>
        <p:spPr>
          <a:xfrm>
            <a:off x="6546960" y="4288680"/>
            <a:ext cx="44802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9304b"/>
                </a:solidFill>
                <a:latin typeface="Arial"/>
              </a:rPr>
              <a:t>Fix A → still NOT ELIGIBLE</a:t>
            </a:r>
            <a:endParaRPr b="0" lang="en-GB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EXPERIMENT DESIGN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Traps, repair and deferral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193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95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11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960120" y="1828800"/>
            <a:ext cx="104238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Controlled traps: negation, family history, hypothetical statements, old values, contradictions, removed evidence and threshold changes.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960120" y="2606040"/>
            <a:ext cx="104238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Compare three actions: keep the answer, defer to UNKNOWN/review, or re-ask once with feedback.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960120" y="338328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Measure both incorrect answers fixed and correct answers broken.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960120" y="416052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Main proposed outcome: eligible patient–trial pairs rescued per 10 checks.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CURRENT STATUS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Completed work and remaining work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12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822960" y="1828800"/>
            <a:ext cx="493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Completed / verified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06" name="TextBox 7"/>
          <p:cNvSpPr/>
          <p:nvPr/>
        </p:nvSpPr>
        <p:spPr>
          <a:xfrm>
            <a:off x="6355080" y="1828800"/>
            <a:ext cx="4845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000" spc="-1" strike="noStrike">
                <a:solidFill>
                  <a:srgbClr val="156d75"/>
                </a:solidFill>
                <a:latin typeface="Arial"/>
              </a:rPr>
              <a:t>In progress / not yet measured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914400" y="2468880"/>
            <a:ext cx="4800240" cy="23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Both datasets and splits validated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36 NSCLC tests passed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9 SIGIR checks passed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Qwen2.5:7b responds locally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Baseline script and evaluation CLI available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6400800" y="2468880"/>
            <a:ext cx="4708800" cy="20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Independent truth annotations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Real baseline accuracy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Six-checker implementation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Priority-strategy comparison</a:t>
            </a:r>
            <a:endParaRPr b="0" lang="en-GB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Repair and trap experiments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914400" y="566928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300" spc="-1" strike="noStrike">
                <a:solidFill>
                  <a:srgbClr val="555e68"/>
                </a:solidFill>
                <a:latin typeface="Arial"/>
              </a:rPr>
              <a:t>No mock-model output is presented as real clinical-model performance.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NEXT STEPS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Immediate development plan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212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13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960120" y="182880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Complete and freeze a small independent development annotation subset.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16" name="TextBox 7"/>
          <p:cNvSpPr/>
          <p:nvPr/>
        </p:nvSpPr>
        <p:spPr>
          <a:xfrm>
            <a:off x="960120" y="260604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Run and evaluate a bounded Qwen2.5:7b development pilot.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17" name="TextBox 8"/>
          <p:cNvSpPr/>
          <p:nvPr/>
        </p:nvSpPr>
        <p:spPr>
          <a:xfrm>
            <a:off x="960120" y="338328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Implement evidence checks and inspect errors manually.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960120" y="416052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Compare review priorities on the same checked examples.</a:t>
            </a:r>
            <a:endParaRPr b="0" lang="en-GB" sz="1900" spc="-1" strike="noStrike"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960120" y="4937760"/>
            <a:ext cx="1042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1d3044"/>
                </a:solidFill>
                <a:latin typeface="Arial"/>
              </a:rPr>
              <a:t>Freeze the method before transferring it to SIGIR and the held-out test sets.</a:t>
            </a:r>
            <a:endParaRPr b="0" lang="en-GB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2"/>
          <p:cNvSpPr/>
          <p:nvPr/>
        </p:nvSpPr>
        <p:spPr>
          <a:xfrm>
            <a:off x="502920" y="320040"/>
            <a:ext cx="10698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Current implementation status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530280" y="941760"/>
            <a:ext cx="10698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Verified technical work versus experiments still to complete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502920" y="6455520"/>
            <a:ext cx="91436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24" name="Rounded Rectangle 5"/>
          <p:cNvSpPr/>
          <p:nvPr/>
        </p:nvSpPr>
        <p:spPr>
          <a:xfrm>
            <a:off x="640080" y="149040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6"/>
          <p:cNvSpPr/>
          <p:nvPr/>
        </p:nvSpPr>
        <p:spPr>
          <a:xfrm>
            <a:off x="877680" y="157284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NSCLC integrity and unit tests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7973640" y="157284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7680"/>
                </a:solidFill>
                <a:latin typeface="Arial"/>
              </a:rPr>
              <a:t>36 / 36 PASS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227" name="Rounded Rectangle 8"/>
          <p:cNvSpPr/>
          <p:nvPr/>
        </p:nvSpPr>
        <p:spPr>
          <a:xfrm>
            <a:off x="640080" y="214884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9"/>
          <p:cNvSpPr/>
          <p:nvPr/>
        </p:nvSpPr>
        <p:spPr>
          <a:xfrm>
            <a:off x="877680" y="223128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SIGIR integrity checks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29" name="TextBox 10"/>
          <p:cNvSpPr/>
          <p:nvPr/>
        </p:nvSpPr>
        <p:spPr>
          <a:xfrm>
            <a:off x="7973640" y="223128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7680"/>
                </a:solidFill>
                <a:latin typeface="Arial"/>
              </a:rPr>
              <a:t>9 / 9 PASS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230" name="Rounded Rectangle 11"/>
          <p:cNvSpPr/>
          <p:nvPr/>
        </p:nvSpPr>
        <p:spPr>
          <a:xfrm>
            <a:off x="640080" y="280728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2f8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1" name="TextBox 12"/>
          <p:cNvSpPr/>
          <p:nvPr/>
        </p:nvSpPr>
        <p:spPr>
          <a:xfrm>
            <a:off x="877680" y="288936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Local Qwen2.5:7b model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32" name="TextBox 13"/>
          <p:cNvSpPr/>
          <p:nvPr/>
        </p:nvSpPr>
        <p:spPr>
          <a:xfrm>
            <a:off x="7973640" y="288936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7680"/>
                </a:solidFill>
                <a:latin typeface="Arial"/>
              </a:rPr>
              <a:t>READY response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233" name="Rounded Rectangle 14"/>
          <p:cNvSpPr/>
          <p:nvPr/>
        </p:nvSpPr>
        <p:spPr>
          <a:xfrm>
            <a:off x="640080" y="346572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15"/>
          <p:cNvSpPr/>
          <p:nvPr/>
        </p:nvSpPr>
        <p:spPr>
          <a:xfrm>
            <a:off x="877680" y="354780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Real model baseline metrics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35" name="TextBox 16"/>
          <p:cNvSpPr/>
          <p:nvPr/>
        </p:nvSpPr>
        <p:spPr>
          <a:xfrm>
            <a:off x="7973640" y="354780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5f6b78"/>
                </a:solidFill>
                <a:latin typeface="Arial"/>
              </a:rPr>
              <a:t>Not measured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236" name="Rounded Rectangle 17"/>
          <p:cNvSpPr/>
          <p:nvPr/>
        </p:nvSpPr>
        <p:spPr>
          <a:xfrm>
            <a:off x="640080" y="412380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18"/>
          <p:cNvSpPr/>
          <p:nvPr/>
        </p:nvSpPr>
        <p:spPr>
          <a:xfrm>
            <a:off x="877680" y="420624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Six-check evidence checker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38" name="TextBox 19"/>
          <p:cNvSpPr/>
          <p:nvPr/>
        </p:nvSpPr>
        <p:spPr>
          <a:xfrm>
            <a:off x="7973640" y="420624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5f6b78"/>
                </a:solidFill>
                <a:latin typeface="Arial"/>
              </a:rPr>
              <a:t>Not implemented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239" name="Rounded Rectangle 20"/>
          <p:cNvSpPr/>
          <p:nvPr/>
        </p:nvSpPr>
        <p:spPr>
          <a:xfrm>
            <a:off x="640080" y="4782240"/>
            <a:ext cx="10606680" cy="520920"/>
          </a:xfrm>
          <a:prstGeom prst="roundRect">
            <a:avLst>
              <a:gd name="adj" fmla="val 16667"/>
            </a:avLst>
          </a:prstGeom>
          <a:solidFill>
            <a:srgbClr val="f7f7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21"/>
          <p:cNvSpPr/>
          <p:nvPr/>
        </p:nvSpPr>
        <p:spPr>
          <a:xfrm>
            <a:off x="877680" y="4864680"/>
            <a:ext cx="66747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Priority and repair comparison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41" name="TextBox 22"/>
          <p:cNvSpPr/>
          <p:nvPr/>
        </p:nvSpPr>
        <p:spPr>
          <a:xfrm>
            <a:off x="7973640" y="486468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5f6b78"/>
                </a:solidFill>
                <a:latin typeface="Arial"/>
              </a:rPr>
              <a:t>Not implemented</a:t>
            </a:r>
            <a:endParaRPr b="0" lang="en-GB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DISCUSSION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Limitations and interpretation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244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6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14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47" name="TextBox 6"/>
          <p:cNvSpPr/>
          <p:nvPr/>
        </p:nvSpPr>
        <p:spPr>
          <a:xfrm>
            <a:off x="960120" y="182880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A small pilot will not establish generalization to all trials.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960120" y="260604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Incomplete notes make some criteria genuinely indeterminable.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960120" y="338328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Review workload matters as much as raw checker recall.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50" name="TextBox 9"/>
          <p:cNvSpPr/>
          <p:nvPr/>
        </p:nvSpPr>
        <p:spPr>
          <a:xfrm>
            <a:off x="960120" y="416052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Automated repair may introduce new errors; deferral may be safer.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51" name="TextBox 10"/>
          <p:cNvSpPr/>
          <p:nvPr/>
        </p:nvSpPr>
        <p:spPr>
          <a:xfrm>
            <a:off x="960120" y="4937760"/>
            <a:ext cx="1042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1d3044"/>
                </a:solidFill>
                <a:latin typeface="Arial"/>
              </a:rPr>
              <a:t>Report negative findings and incomplete experiments explicitly.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ounded Rectangle 1"/>
          <p:cNvSpPr/>
          <p:nvPr/>
        </p:nvSpPr>
        <p:spPr>
          <a:xfrm>
            <a:off x="0" y="0"/>
            <a:ext cx="12188520" cy="91080"/>
          </a:xfrm>
          <a:prstGeom prst="roundRect">
            <a:avLst>
              <a:gd name="adj" fmla="val 16667"/>
            </a:avLst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2"/>
          <p:cNvSpPr/>
          <p:nvPr/>
        </p:nvSpPr>
        <p:spPr>
          <a:xfrm>
            <a:off x="502920" y="311040"/>
            <a:ext cx="110638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PRELIMINARY EXPERIMENTAL RESULTS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530280" y="896040"/>
            <a:ext cx="1097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Qwen2.5:7b baseline  |  NSCLC-100, pair 7 (T01)  |  exploratory n = 1 pair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55" name="TextBox 4"/>
          <p:cNvSpPr/>
          <p:nvPr/>
        </p:nvSpPr>
        <p:spPr>
          <a:xfrm>
            <a:off x="502920" y="6473880"/>
            <a:ext cx="100580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56" name="Rounded Rectangle 5"/>
          <p:cNvSpPr/>
          <p:nvPr/>
        </p:nvSpPr>
        <p:spPr>
          <a:xfrm>
            <a:off x="594360" y="1463040"/>
            <a:ext cx="5230080" cy="100548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6"/>
          <p:cNvSpPr/>
          <p:nvPr/>
        </p:nvSpPr>
        <p:spPr>
          <a:xfrm>
            <a:off x="758880" y="1572840"/>
            <a:ext cx="167292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007680"/>
                </a:solidFill>
                <a:latin typeface="Arial"/>
              </a:rPr>
              <a:t>21 / 21</a:t>
            </a:r>
            <a:endParaRPr b="0" lang="en-GB" sz="2300" spc="-1" strike="noStrike">
              <a:latin typeface="Arial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2477880" y="1645920"/>
            <a:ext cx="3181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9304b"/>
                </a:solidFill>
                <a:latin typeface="Arial"/>
              </a:rPr>
              <a:t>Rule answers written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59" name="Rounded Rectangle 8"/>
          <p:cNvSpPr/>
          <p:nvPr/>
        </p:nvSpPr>
        <p:spPr>
          <a:xfrm>
            <a:off x="6236280" y="1463040"/>
            <a:ext cx="5230080" cy="100548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TextBox 9"/>
          <p:cNvSpPr/>
          <p:nvPr/>
        </p:nvSpPr>
        <p:spPr>
          <a:xfrm>
            <a:off x="6400800" y="1572840"/>
            <a:ext cx="167292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007680"/>
                </a:solidFill>
                <a:latin typeface="Arial"/>
              </a:rPr>
              <a:t>0</a:t>
            </a:r>
            <a:endParaRPr b="0" lang="en-GB" sz="2300" spc="-1" strike="noStrike">
              <a:latin typeface="Arial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8119800" y="1645920"/>
            <a:ext cx="3181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9304b"/>
                </a:solidFill>
                <a:latin typeface="Arial"/>
              </a:rPr>
              <a:t>Failed model calls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62" name="Rounded Rectangle 11"/>
          <p:cNvSpPr/>
          <p:nvPr/>
        </p:nvSpPr>
        <p:spPr>
          <a:xfrm>
            <a:off x="594360" y="2715840"/>
            <a:ext cx="5230080" cy="100548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TextBox 12"/>
          <p:cNvSpPr/>
          <p:nvPr/>
        </p:nvSpPr>
        <p:spPr>
          <a:xfrm>
            <a:off x="758880" y="2825640"/>
            <a:ext cx="167292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007680"/>
                </a:solidFill>
                <a:latin typeface="Arial"/>
              </a:rPr>
              <a:t>1 / 1</a:t>
            </a:r>
            <a:endParaRPr b="0" lang="en-GB" sz="2300" spc="-1" strike="noStrike">
              <a:latin typeface="Arial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2477880" y="2898720"/>
            <a:ext cx="31816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9304b"/>
                </a:solidFill>
                <a:latin typeface="Arial"/>
              </a:rPr>
              <a:t>Eligible-labeled pair predicted NOT_ELIGIBLE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65" name="Rounded Rectangle 14"/>
          <p:cNvSpPr/>
          <p:nvPr/>
        </p:nvSpPr>
        <p:spPr>
          <a:xfrm>
            <a:off x="6236280" y="2715840"/>
            <a:ext cx="5230080" cy="100548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TextBox 15"/>
          <p:cNvSpPr/>
          <p:nvPr/>
        </p:nvSpPr>
        <p:spPr>
          <a:xfrm>
            <a:off x="6400800" y="2825640"/>
            <a:ext cx="167292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300" spc="-1" strike="noStrike">
                <a:solidFill>
                  <a:srgbClr val="007680"/>
                </a:solidFill>
                <a:latin typeface="Arial"/>
              </a:rPr>
              <a:t>8 / 9</a:t>
            </a:r>
            <a:endParaRPr b="0" lang="en-GB" sz="2300" spc="-1" strike="noStrike"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8119800" y="2898720"/>
            <a:ext cx="31816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9304b"/>
                </a:solidFill>
                <a:latin typeface="Arial"/>
              </a:rPr>
              <a:t>Quoted spans matched verbatim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658440" y="4160520"/>
            <a:ext cx="5486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19304b"/>
                </a:solidFill>
                <a:latin typeface="Arial"/>
              </a:rPr>
              <a:t>Model rule-verdict distribution (21 criteria)</a:t>
            </a:r>
            <a:endParaRPr b="0" lang="en-GB" sz="1700" spc="-1" strike="noStrike">
              <a:latin typeface="Arial"/>
            </a:endParaRPr>
          </a:p>
        </p:txBody>
      </p:sp>
      <p:sp>
        <p:nvSpPr>
          <p:cNvPr id="269" name="Rounded Rectangle 18"/>
          <p:cNvSpPr/>
          <p:nvPr/>
        </p:nvSpPr>
        <p:spPr>
          <a:xfrm>
            <a:off x="685800" y="4599360"/>
            <a:ext cx="2350800" cy="292320"/>
          </a:xfrm>
          <a:prstGeom prst="roundRect">
            <a:avLst>
              <a:gd name="adj" fmla="val 16667"/>
            </a:avLst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Rounded Rectangle 19"/>
          <p:cNvSpPr/>
          <p:nvPr/>
        </p:nvSpPr>
        <p:spPr>
          <a:xfrm>
            <a:off x="3036960" y="4599360"/>
            <a:ext cx="940320" cy="292320"/>
          </a:xfrm>
          <a:prstGeom prst="roundRect">
            <a:avLst>
              <a:gd name="adj" fmla="val 16667"/>
            </a:avLst>
          </a:prstGeom>
          <a:solidFill>
            <a:srgbClr val="a93e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Rounded Rectangle 20"/>
          <p:cNvSpPr/>
          <p:nvPr/>
        </p:nvSpPr>
        <p:spPr>
          <a:xfrm>
            <a:off x="3977640" y="4599360"/>
            <a:ext cx="6583320" cy="292320"/>
          </a:xfrm>
          <a:prstGeom prst="roundRect">
            <a:avLst>
              <a:gd name="adj" fmla="val 16667"/>
            </a:avLst>
          </a:prstGeom>
          <a:solidFill>
            <a:srgbClr val="97a2a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21"/>
          <p:cNvSpPr/>
          <p:nvPr/>
        </p:nvSpPr>
        <p:spPr>
          <a:xfrm>
            <a:off x="685800" y="5038200"/>
            <a:ext cx="107895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9304b"/>
                </a:solidFill>
                <a:latin typeface="Arial"/>
              </a:rPr>
              <a:t>Met: 5 (23.8%)     Not met: 2 (9.5%)     Not stated: 14 (66.7%)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73" name="TextBox 22"/>
          <p:cNvSpPr/>
          <p:nvPr/>
        </p:nvSpPr>
        <p:spPr>
          <a:xfrm>
            <a:off x="685800" y="5605200"/>
            <a:ext cx="10789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a93e3e"/>
                </a:solidFill>
                <a:latin typeface="Arial"/>
              </a:rPr>
              <a:t>Official evaluator: strict accuracy 0/1; this is NOT an overall model accuracy estimate.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ounded Rectangle 1"/>
          <p:cNvSpPr/>
          <p:nvPr/>
        </p:nvSpPr>
        <p:spPr>
          <a:xfrm>
            <a:off x="0" y="0"/>
            <a:ext cx="12188520" cy="91080"/>
          </a:xfrm>
          <a:prstGeom prst="roundRect">
            <a:avLst>
              <a:gd name="adj" fmla="val 16667"/>
            </a:avLst>
          </a:prstGeom>
          <a:solidFill>
            <a:srgbClr val="0076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TextBox 2"/>
          <p:cNvSpPr/>
          <p:nvPr/>
        </p:nvSpPr>
        <p:spPr>
          <a:xfrm>
            <a:off x="502920" y="311040"/>
            <a:ext cx="110638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9304b"/>
                </a:solidFill>
                <a:latin typeface="Arial"/>
              </a:rPr>
              <a:t>PILOT CASE STUDY: WHY CHECKING MATTERS</a:t>
            </a:r>
            <a:endParaRPr b="0" lang="en-GB" sz="2700" spc="-1" strike="noStrike">
              <a:latin typeface="Arial"/>
            </a:endParaRPr>
          </a:p>
        </p:txBody>
      </p:sp>
      <p:sp>
        <p:nvSpPr>
          <p:cNvPr id="276" name="TextBox 3"/>
          <p:cNvSpPr/>
          <p:nvPr/>
        </p:nvSpPr>
        <p:spPr>
          <a:xfrm>
            <a:off x="530280" y="896040"/>
            <a:ext cx="1097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f6b78"/>
                </a:solidFill>
                <a:latin typeface="Arial"/>
              </a:rPr>
              <a:t>Manual inspection of model output; automated six-check system not yet evaluated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277" name="TextBox 4"/>
          <p:cNvSpPr/>
          <p:nvPr/>
        </p:nvSpPr>
        <p:spPr>
          <a:xfrm>
            <a:off x="502920" y="6473880"/>
            <a:ext cx="100580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5f6b7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78" name="Rounded Rectangle 5"/>
          <p:cNvSpPr/>
          <p:nvPr/>
        </p:nvSpPr>
        <p:spPr>
          <a:xfrm>
            <a:off x="594360" y="1353240"/>
            <a:ext cx="10999800" cy="107856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9" name="TextBox 6"/>
          <p:cNvSpPr/>
          <p:nvPr/>
        </p:nvSpPr>
        <p:spPr>
          <a:xfrm>
            <a:off x="822960" y="1463040"/>
            <a:ext cx="3200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Logic: ECOG 0 or 1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4005000" y="1444680"/>
            <a:ext cx="4708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9304b"/>
                </a:solidFill>
                <a:latin typeface="Arial"/>
              </a:rPr>
              <a:t>Patient note: ECOG=1; model verdict: NOT MET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81" name="TextBox 8"/>
          <p:cNvSpPr/>
          <p:nvPr/>
        </p:nvSpPr>
        <p:spPr>
          <a:xfrm>
            <a:off x="8805600" y="1463040"/>
            <a:ext cx="250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07680"/>
                </a:solidFill>
                <a:latin typeface="Arial"/>
              </a:rPr>
              <a:t>Confirmed model logic error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82" name="Rounded Rectangle 9"/>
          <p:cNvSpPr/>
          <p:nvPr/>
        </p:nvSpPr>
        <p:spPr>
          <a:xfrm>
            <a:off x="594360" y="2633400"/>
            <a:ext cx="10999800" cy="107856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3" name="TextBox 10"/>
          <p:cNvSpPr/>
          <p:nvPr/>
        </p:nvSpPr>
        <p:spPr>
          <a:xfrm>
            <a:off x="822960" y="2743200"/>
            <a:ext cx="3200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Citation existence: NSCLC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84" name="TextBox 11"/>
          <p:cNvSpPr/>
          <p:nvPr/>
        </p:nvSpPr>
        <p:spPr>
          <a:xfrm>
            <a:off x="4005000" y="2724840"/>
            <a:ext cx="4708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9304b"/>
                </a:solidFill>
                <a:latin typeface="Arial"/>
              </a:rPr>
              <a:t>Model quoted criterion text absent from patient note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85" name="TextBox 12"/>
          <p:cNvSpPr/>
          <p:nvPr/>
        </p:nvSpPr>
        <p:spPr>
          <a:xfrm>
            <a:off x="8805600" y="2743200"/>
            <a:ext cx="2505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07680"/>
                </a:solidFill>
                <a:latin typeface="Arial"/>
              </a:rPr>
              <a:t>Non-verbatim citation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86" name="Rounded Rectangle 13"/>
          <p:cNvSpPr/>
          <p:nvPr/>
        </p:nvSpPr>
        <p:spPr>
          <a:xfrm>
            <a:off x="594360" y="3913560"/>
            <a:ext cx="10999800" cy="1078560"/>
          </a:xfrm>
          <a:prstGeom prst="roundRect">
            <a:avLst>
              <a:gd name="adj" fmla="val 16667"/>
            </a:avLst>
          </a:prstGeom>
          <a:solidFill>
            <a:srgbClr val="f5f8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TextBox 14"/>
          <p:cNvSpPr/>
          <p:nvPr/>
        </p:nvSpPr>
        <p:spPr>
          <a:xfrm>
            <a:off x="822960" y="4023360"/>
            <a:ext cx="3200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9304b"/>
                </a:solidFill>
                <a:latin typeface="Arial"/>
              </a:rPr>
              <a:t>Tumor size / reference label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4005000" y="4005000"/>
            <a:ext cx="4708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9304b"/>
                </a:solidFill>
                <a:latin typeface="Arial"/>
              </a:rPr>
              <a:t>Stage Ia, tumor ≤2 cm; trial requires &gt;2 cm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89" name="TextBox 16"/>
          <p:cNvSpPr/>
          <p:nvPr/>
        </p:nvSpPr>
        <p:spPr>
          <a:xfrm>
            <a:off x="8805600" y="4023360"/>
            <a:ext cx="25052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a93e3e"/>
                </a:solidFill>
                <a:latin typeface="Arial"/>
              </a:rPr>
              <a:t>Model rejection appears justified; label requires review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290" name="Rounded Rectangle 17"/>
          <p:cNvSpPr/>
          <p:nvPr/>
        </p:nvSpPr>
        <p:spPr>
          <a:xfrm>
            <a:off x="640080" y="5330880"/>
            <a:ext cx="10926720" cy="639720"/>
          </a:xfrm>
          <a:prstGeom prst="roundRect">
            <a:avLst>
              <a:gd name="adj" fmla="val 16667"/>
            </a:avLst>
          </a:prstGeom>
          <a:solidFill>
            <a:srgbClr val="eb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1" name="TextBox 18"/>
          <p:cNvSpPr/>
          <p:nvPr/>
        </p:nvSpPr>
        <p:spPr>
          <a:xfrm>
            <a:off x="841320" y="5440680"/>
            <a:ext cx="104695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9304b"/>
                </a:solidFill>
                <a:latin typeface="Arial"/>
              </a:rPr>
              <a:t>Interpretation: correcting ECOG alone does not rescue the pair; another criterion still fails.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292" name="TextBox 19"/>
          <p:cNvSpPr/>
          <p:nvPr/>
        </p:nvSpPr>
        <p:spPr>
          <a:xfrm>
            <a:off x="676800" y="6108120"/>
            <a:ext cx="10926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f6b78"/>
                </a:solidFill>
                <a:latin typeface="Arial"/>
              </a:rPr>
              <a:t>Scope: one-pair pilot. Checker detection rates, repair outcomes, and rescue-per-check remain unmeasured.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85800" y="320040"/>
            <a:ext cx="10058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1100" spc="-1" strike="noStrike">
                <a:solidFill>
                  <a:srgbClr val="156d75"/>
                </a:solidFill>
                <a:latin typeface="Arial"/>
              </a:rPr>
              <a:t>QUESTIONS</a:t>
            </a:r>
            <a:endParaRPr b="0" lang="en-GB" sz="1100" spc="-1" strike="noStrike"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85800" y="777240"/>
            <a:ext cx="1088100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2900" spc="-1" strike="noStrike">
                <a:solidFill>
                  <a:srgbClr val="1d3044"/>
                </a:solidFill>
                <a:latin typeface="Arial"/>
              </a:rPr>
              <a:t>Thank you</a:t>
            </a:r>
            <a:endParaRPr b="0" lang="en-GB" sz="2900" spc="-1" strike="noStrike">
              <a:latin typeface="Arial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685800" y="6355080"/>
            <a:ext cx="10789560" cy="10440"/>
          </a:xfrm>
          <a:prstGeom prst="rect">
            <a:avLst/>
          </a:prstGeom>
          <a:solidFill>
            <a:srgbClr val="eef2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6" name="TextBox 4"/>
          <p:cNvSpPr/>
          <p:nvPr/>
        </p:nvSpPr>
        <p:spPr>
          <a:xfrm>
            <a:off x="731520" y="6428160"/>
            <a:ext cx="8229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MTP Mid-Semester Evaluation  |  12 October 2026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97" name="TextBox 5"/>
          <p:cNvSpPr/>
          <p:nvPr/>
        </p:nvSpPr>
        <p:spPr>
          <a:xfrm>
            <a:off x="10972800" y="6428160"/>
            <a:ext cx="548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900" spc="-1" strike="noStrike">
                <a:solidFill>
                  <a:srgbClr val="555e68"/>
                </a:solidFill>
                <a:latin typeface="Arial"/>
              </a:rPr>
              <a:t>15</a:t>
            </a:r>
            <a:endParaRPr b="0" lang="en-GB" sz="900" spc="-1" strike="noStrike">
              <a:latin typeface="Arial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914400" y="2423160"/>
            <a:ext cx="9600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1" lang="en-US" sz="3000" spc="-1" strike="noStrike">
                <a:solidFill>
                  <a:srgbClr val="156d75"/>
                </a:solidFill>
                <a:latin typeface="Arial"/>
              </a:rPr>
              <a:t>Check what can change the outcome.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914400" y="4114800"/>
            <a:ext cx="9143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00"/>
              </a:spcAft>
              <a:buNone/>
            </a:pPr>
            <a:r>
              <a:rPr b="0" lang="en-US" sz="2100" spc="-1" strike="noStrike">
                <a:solidFill>
                  <a:srgbClr val="555e68"/>
                </a:solidFill>
                <a:latin typeface="Arial"/>
              </a:rPr>
              <a:t>Questions and discussion</a:t>
            </a:r>
            <a:endParaRPr b="0" lang="en-GB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2026-10-11T22:37:43Z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