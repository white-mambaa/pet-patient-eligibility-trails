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000" spc="-1" strike="noStrike">
                <a:latin typeface="Arial"/>
              </a:rPr>
              <a:t>Click to edit the notes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GB" sz="1400" spc="-1" strike="noStrike">
                <a:latin typeface="Times New Roman"/>
              </a:defRPr>
            </a:lvl1pPr>
          </a:lstStyle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E6DC081-B7AF-4A58-AC15-83B1EDDD5F06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GB" sz="2000" spc="-1" strike="noStrike">
                <a:latin typeface="Arial"/>
              </a:rPr>
              <a:t>Introduce the question. This is a progress presentation, not a claim that the proposed checker has already been evaluated.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526874-8873-4C37-9644-ACC372AB56C6}" type="slidenum">
              <a:rPr b="0" lang="en-US" sz="1200" spc="-1" strike="noStrike">
                <a:latin typeface="Times New Roman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48108-BE75-4969-A4CC-BC168016A7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0F5A03-A448-4055-B5C1-4512B263E8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7EE8E-C6CD-4EF6-A26B-C6731EE511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81E52B-18B9-4728-9A47-0C514156EC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F95D78-EC0C-46E1-8917-C004C0CCE1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D26DC9-AF61-46F7-8353-A226090E54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6CC2C-EFF3-4E5A-A68F-B5A0E18F51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885E27-947D-47D0-A618-744E0CAF71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F7C04-6808-45F3-8CF8-AE83F71B66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4FDF78-CAC1-49E6-BA71-AB92F3F154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C8313-82A0-4B6D-80C8-D7DC9B93F8C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1E0C80-9E79-4817-ADCA-9B80058A51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A06A57-1058-4FD3-B593-270B38371A7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MTP MID-EVALUATION • 12 OCT 2026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CHECK WHAT CAN CHANGE THE OUTCOME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Decision-aware evidence checking for AI-based clinical trial screening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51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54" name="Rounded Rectangle 8"/>
          <p:cNvSpPr/>
          <p:nvPr/>
        </p:nvSpPr>
        <p:spPr>
          <a:xfrm>
            <a:off x="640080" y="2377440"/>
            <a:ext cx="10881000" cy="1919880"/>
          </a:xfrm>
          <a:prstGeom prst="roundRect">
            <a:avLst>
              <a:gd name="adj" fmla="val 16667"/>
            </a:avLst>
          </a:prstGeom>
          <a:solidFill>
            <a:srgbClr val="11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9"/>
          <p:cNvSpPr/>
          <p:nvPr/>
        </p:nvSpPr>
        <p:spPr>
          <a:xfrm>
            <a:off x="1005840" y="2688480"/>
            <a:ext cx="10149480" cy="9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900" spc="-1" strike="noStrike">
                <a:solidFill>
                  <a:srgbClr val="ffffff"/>
                </a:solidFill>
                <a:latin typeface="Aptos"/>
              </a:rPr>
              <a:t>Which AI answers should we check first to prevent wrongful patient rejection?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731520" y="4736520"/>
            <a:ext cx="10058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11223a"/>
                </a:solidFill>
                <a:latin typeface="Aptos"/>
              </a:rPr>
              <a:t>Akash (Kai)  •  B.Tech CSE  •  IIT Mandi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731520" y="5349240"/>
            <a:ext cx="100580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Progress presentation — prior laboratory findings + proposed student experiments</a:t>
            </a:r>
            <a:endParaRPr b="0" lang="en-GB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INTRODUCTION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Clinical-trial screening is an evidence problem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A valid-looking AI explanation may still produce the wrong eligibility decision.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62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64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2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65" name="Rounded Rectangle 8"/>
          <p:cNvSpPr/>
          <p:nvPr/>
        </p:nvSpPr>
        <p:spPr>
          <a:xfrm>
            <a:off x="731520" y="237744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Rounded Rectangle 9"/>
          <p:cNvSpPr/>
          <p:nvPr/>
        </p:nvSpPr>
        <p:spPr>
          <a:xfrm>
            <a:off x="731520" y="2377440"/>
            <a:ext cx="50040" cy="246852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941760" y="2551320"/>
            <a:ext cx="3017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2e5d95"/>
                </a:solidFill>
                <a:latin typeface="Aptos"/>
              </a:rPr>
              <a:t>PATIENT NOTE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941760" y="3182040"/>
            <a:ext cx="297144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The record contains clinical facts, omissions, and uncertainty.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69" name="Rounded Rectangle 12"/>
          <p:cNvSpPr/>
          <p:nvPr/>
        </p:nvSpPr>
        <p:spPr>
          <a:xfrm>
            <a:off x="4407480" y="237744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Rounded Rectangle 13"/>
          <p:cNvSpPr/>
          <p:nvPr/>
        </p:nvSpPr>
        <p:spPr>
          <a:xfrm>
            <a:off x="4407480" y="2377440"/>
            <a:ext cx="50040" cy="246852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14"/>
          <p:cNvSpPr/>
          <p:nvPr/>
        </p:nvSpPr>
        <p:spPr>
          <a:xfrm>
            <a:off x="4617720" y="2551320"/>
            <a:ext cx="3017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AI RULE ANSWER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4617720" y="3182040"/>
            <a:ext cx="297144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The AI decides whether a criterion is satisfied and cites evidence.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73" name="Rounded Rectangle 16"/>
          <p:cNvSpPr/>
          <p:nvPr/>
        </p:nvSpPr>
        <p:spPr>
          <a:xfrm>
            <a:off x="8092440" y="2377440"/>
            <a:ext cx="3382920" cy="24685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ounded Rectangle 17"/>
          <p:cNvSpPr/>
          <p:nvPr/>
        </p:nvSpPr>
        <p:spPr>
          <a:xfrm>
            <a:off x="8092440" y="2377440"/>
            <a:ext cx="50040" cy="2468520"/>
          </a:xfrm>
          <a:prstGeom prst="roundRect">
            <a:avLst>
              <a:gd name="adj" fmla="val 16667"/>
            </a:avLst>
          </a:prstGeom>
          <a:solidFill>
            <a:srgbClr val="b3404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18"/>
          <p:cNvSpPr/>
          <p:nvPr/>
        </p:nvSpPr>
        <p:spPr>
          <a:xfrm>
            <a:off x="8302680" y="2551320"/>
            <a:ext cx="3017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b34043"/>
                </a:solidFill>
                <a:latin typeface="Aptos"/>
              </a:rPr>
              <a:t>FINAL DECISION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8302680" y="3182040"/>
            <a:ext cx="297144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One mistaken rule answer can incorrectly exclude an eligible patient.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914400" y="5349240"/>
            <a:ext cx="1005804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200" spc="-1" strike="noStrike">
                <a:solidFill>
                  <a:srgbClr val="11223a"/>
                </a:solidFill>
                <a:latin typeface="Aptos"/>
              </a:rPr>
              <a:t>Our focus: verify consequential answers first, not simply check everything.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BACKGROUND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Two complementary projects — one shared foundation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5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3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731520" y="2103120"/>
            <a:ext cx="5211720" cy="31086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Rounded Rectangle 8"/>
          <p:cNvSpPr/>
          <p:nvPr/>
        </p:nvSpPr>
        <p:spPr>
          <a:xfrm>
            <a:off x="731520" y="2103120"/>
            <a:ext cx="50040" cy="310860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9"/>
          <p:cNvSpPr/>
          <p:nvPr/>
        </p:nvSpPr>
        <p:spPr>
          <a:xfrm>
            <a:off x="941760" y="2277000"/>
            <a:ext cx="484596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100" spc="-1" strike="noStrike">
                <a:solidFill>
                  <a:srgbClr val="2e5d95"/>
                </a:solidFill>
                <a:latin typeface="Aptos"/>
              </a:rPr>
              <a:t>AMAN — ASK INSTEAD OF GUESS</a:t>
            </a:r>
            <a:endParaRPr b="0" lang="en-GB" sz="21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941760" y="2907720"/>
            <a:ext cx="480024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900" spc="-1" strike="noStrike">
                <a:solidFill>
                  <a:srgbClr val="11223a"/>
                </a:solidFill>
                <a:latin typeface="Aptos"/>
              </a:rPr>
              <a:t>When evidence is missing: preserve UNKNOWN and ask a decision-relevant question.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88" name="Rounded Rectangle 11"/>
          <p:cNvSpPr/>
          <p:nvPr/>
        </p:nvSpPr>
        <p:spPr>
          <a:xfrm>
            <a:off x="6263640" y="2103120"/>
            <a:ext cx="5211720" cy="31086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Rounded Rectangle 12"/>
          <p:cNvSpPr/>
          <p:nvPr/>
        </p:nvSpPr>
        <p:spPr>
          <a:xfrm>
            <a:off x="6263640" y="2103120"/>
            <a:ext cx="50040" cy="310860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TextBox 13"/>
          <p:cNvSpPr/>
          <p:nvPr/>
        </p:nvSpPr>
        <p:spPr>
          <a:xfrm>
            <a:off x="6473880" y="2277000"/>
            <a:ext cx="484596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100" spc="-1" strike="noStrike">
                <a:solidFill>
                  <a:srgbClr val="008583"/>
                </a:solidFill>
                <a:latin typeface="Aptos"/>
              </a:rPr>
              <a:t>AKASH — CHECK WHAT CAN CHANGE</a:t>
            </a:r>
            <a:endParaRPr b="0" lang="en-GB" sz="2100" spc="-1" strike="noStrike">
              <a:latin typeface="Arial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6473880" y="2907720"/>
            <a:ext cx="4800240" cy="12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900" spc="-1" strike="noStrike">
                <a:solidFill>
                  <a:srgbClr val="11223a"/>
                </a:solidFill>
                <a:latin typeface="Aptos"/>
              </a:rPr>
              <a:t>After the AI answers: detect unsupported reasoning and prioritize checks that can change the final decision.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914400" y="5577840"/>
            <a:ext cx="1005804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596977"/>
                </a:solidFill>
                <a:latin typeface="Aptos"/>
              </a:rPr>
              <a:t>The two approaches are complementary; their experiments and outcomes remain separate.</a:t>
            </a:r>
            <a:endParaRPr b="0" lang="en-GB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BACKGROUND • PRIOR LAB EVIDENCE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Historical annotation studies motivate our design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These are not outcomes generated by our proposed student system.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97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00" name="Rounded Rectangle 8"/>
          <p:cNvSpPr/>
          <p:nvPr/>
        </p:nvSpPr>
        <p:spPr>
          <a:xfrm>
            <a:off x="731520" y="2194560"/>
            <a:ext cx="5211720" cy="3154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Rounded Rectangle 9"/>
          <p:cNvSpPr/>
          <p:nvPr/>
        </p:nvSpPr>
        <p:spPr>
          <a:xfrm>
            <a:off x="731520" y="2194560"/>
            <a:ext cx="50040" cy="315432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TextBox 10"/>
          <p:cNvSpPr/>
          <p:nvPr/>
        </p:nvSpPr>
        <p:spPr>
          <a:xfrm>
            <a:off x="941760" y="2368440"/>
            <a:ext cx="4845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2e5d95"/>
                </a:solidFill>
                <a:latin typeface="Aptos"/>
              </a:rPr>
              <a:t>HISTORICAL NSCLC AUDIT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941760" y="2999160"/>
            <a:ext cx="4800240" cy="13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251 unique note–criterion items; three reviewer files with repeated controls.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Measured disagreement and inconsistency.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04" name="Rounded Rectangle 12"/>
          <p:cNvSpPr/>
          <p:nvPr/>
        </p:nvSpPr>
        <p:spPr>
          <a:xfrm>
            <a:off x="6263640" y="2194560"/>
            <a:ext cx="5211720" cy="3154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Rounded Rectangle 13"/>
          <p:cNvSpPr/>
          <p:nvPr/>
        </p:nvSpPr>
        <p:spPr>
          <a:xfrm>
            <a:off x="6263640" y="2194560"/>
            <a:ext cx="50040" cy="315432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14"/>
          <p:cNvSpPr/>
          <p:nvPr/>
        </p:nvSpPr>
        <p:spPr>
          <a:xfrm>
            <a:off x="6473880" y="2368440"/>
            <a:ext cx="4845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008583"/>
                </a:solidFill>
                <a:latin typeface="Aptos"/>
              </a:rPr>
              <a:t>FROZEN SIGIR STUDY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07" name="TextBox 15"/>
          <p:cNvSpPr/>
          <p:nvPr/>
        </p:nvSpPr>
        <p:spPr>
          <a:xfrm>
            <a:off x="6473880" y="2999160"/>
            <a:ext cx="4800240" cy="18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160 criterion-level items; 28 patient–trial clusters; two blinded reviewers plus adjudication.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Measured evidence availability and routing burden.</a:t>
            </a:r>
            <a:endParaRPr b="0" lang="en-GB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RESULTS SO FAR • PRIOR LAB EVIDENCE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Finding 1 — A real citation is not a verified violation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Corrected historical NSCLC explanation audit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5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15" name="Rounded Rectangle 8"/>
          <p:cNvSpPr/>
          <p:nvPr/>
        </p:nvSpPr>
        <p:spPr>
          <a:xfrm>
            <a:off x="749880" y="2148840"/>
            <a:ext cx="3794400" cy="2468520"/>
          </a:xfrm>
          <a:prstGeom prst="roundRect">
            <a:avLst>
              <a:gd name="adj" fmla="val 16667"/>
            </a:avLst>
          </a:prstGeom>
          <a:solidFill>
            <a:srgbClr val="11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TextBox 9"/>
          <p:cNvSpPr/>
          <p:nvPr/>
        </p:nvSpPr>
        <p:spPr>
          <a:xfrm>
            <a:off x="969120" y="2468880"/>
            <a:ext cx="338292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Aptos"/>
              </a:rPr>
              <a:t>50.99%</a:t>
            </a:r>
            <a:endParaRPr b="0" lang="en-GB" sz="4800" spc="-1" strike="noStrike"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1051560" y="3749040"/>
            <a:ext cx="3200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Aptos"/>
              </a:rPr>
              <a:t>Raw explanation precision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18" name="Rounded Rectangle 11"/>
          <p:cNvSpPr/>
          <p:nvPr/>
        </p:nvSpPr>
        <p:spPr>
          <a:xfrm>
            <a:off x="4892040" y="2148840"/>
            <a:ext cx="6491880" cy="24685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Rounded Rectangle 12"/>
          <p:cNvSpPr/>
          <p:nvPr/>
        </p:nvSpPr>
        <p:spPr>
          <a:xfrm>
            <a:off x="4892040" y="2148840"/>
            <a:ext cx="50040" cy="246852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13"/>
          <p:cNvSpPr/>
          <p:nvPr/>
        </p:nvSpPr>
        <p:spPr>
          <a:xfrm>
            <a:off x="5102280" y="2322720"/>
            <a:ext cx="61261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008583"/>
                </a:solidFill>
                <a:latin typeface="Aptos"/>
              </a:rPr>
              <a:t>77 / 151 CITATIONS CONFIRMED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21" name="TextBox 14"/>
          <p:cNvSpPr/>
          <p:nvPr/>
        </p:nvSpPr>
        <p:spPr>
          <a:xfrm>
            <a:off x="5102280" y="2953440"/>
            <a:ext cx="608040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900" spc="-1" strike="noStrike">
                <a:solidFill>
                  <a:srgbClr val="11223a"/>
                </a:solidFill>
                <a:latin typeface="Aptos"/>
              </a:rPr>
              <a:t>Patient-clustered 95% interval: 42.07%–59.60%. A genuine quoted span may still be misinterpreted.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914400" y="5074920"/>
            <a:ext cx="1033236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11223a"/>
                </a:solidFill>
                <a:latin typeface="Aptos"/>
              </a:rPr>
              <a:t>Implication: check support, context, and rule logic — not just whether the quote exists.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RESULTS SO FAR • PRIOR LAB EVIDENCE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Finding 2 — A second judge may repeat the same error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Historical human–model error audit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27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30" name="Rounded Rectangle 8"/>
          <p:cNvSpPr/>
          <p:nvPr/>
        </p:nvSpPr>
        <p:spPr>
          <a:xfrm>
            <a:off x="749880" y="2103120"/>
            <a:ext cx="3794400" cy="2559960"/>
          </a:xfrm>
          <a:prstGeom prst="roundRect">
            <a:avLst>
              <a:gd name="adj" fmla="val 16667"/>
            </a:avLst>
          </a:prstGeom>
          <a:solidFill>
            <a:srgbClr val="11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9"/>
          <p:cNvSpPr/>
          <p:nvPr/>
        </p:nvSpPr>
        <p:spPr>
          <a:xfrm>
            <a:off x="1051560" y="2606040"/>
            <a:ext cx="320004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4600" spc="-1" strike="noStrike">
                <a:solidFill>
                  <a:srgbClr val="ffffff"/>
                </a:solidFill>
                <a:latin typeface="Aptos"/>
              </a:rPr>
              <a:t>2.08×</a:t>
            </a:r>
            <a:endParaRPr b="0" lang="en-GB" sz="46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1005840" y="3703320"/>
            <a:ext cx="32914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</a:rPr>
              <a:t>Observed / expected joint errors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33" name="Rounded Rectangle 11"/>
          <p:cNvSpPr/>
          <p:nvPr/>
        </p:nvSpPr>
        <p:spPr>
          <a:xfrm>
            <a:off x="4892040" y="2103120"/>
            <a:ext cx="6491880" cy="255996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Rounded Rectangle 12"/>
          <p:cNvSpPr/>
          <p:nvPr/>
        </p:nvSpPr>
        <p:spPr>
          <a:xfrm>
            <a:off x="4892040" y="2103120"/>
            <a:ext cx="50040" cy="255996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13"/>
          <p:cNvSpPr/>
          <p:nvPr/>
        </p:nvSpPr>
        <p:spPr>
          <a:xfrm>
            <a:off x="5102280" y="2277000"/>
            <a:ext cx="61261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2e5d95"/>
                </a:solidFill>
                <a:latin typeface="Aptos"/>
              </a:rPr>
              <a:t>11 JOINT ERRORS vs 5.3 EXPECTED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5102280" y="2907720"/>
            <a:ext cx="608040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On 37 eligible-patient cited items, the human and an independent model were both wrong more often than independence predicts.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914400" y="5166360"/>
            <a:ext cx="100580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100" spc="-1" strike="noStrike">
                <a:solidFill>
                  <a:srgbClr val="11223a"/>
                </a:solidFill>
                <a:latin typeface="Aptos"/>
              </a:rPr>
              <a:t>Implication: agreement alone is not independent evidence validation.</a:t>
            </a:r>
            <a:endParaRPr b="0" lang="en-GB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RESULTS SO FAR • PRIOR LAB EVIDENCE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Finding 3 — Broad routing is costly and incomplete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Frozen SIGIR evidence-availability routing (descriptive operating point)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42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7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45" name="Rounded Rectangle 8"/>
          <p:cNvSpPr/>
          <p:nvPr/>
        </p:nvSpPr>
        <p:spPr>
          <a:xfrm>
            <a:off x="731520" y="2286000"/>
            <a:ext cx="2624040" cy="1691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TextBox 9"/>
          <p:cNvSpPr/>
          <p:nvPr/>
        </p:nvSpPr>
        <p:spPr>
          <a:xfrm>
            <a:off x="868680" y="2597040"/>
            <a:ext cx="2377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008583"/>
                </a:solidFill>
                <a:latin typeface="Aptos"/>
              </a:rPr>
              <a:t>95 / 144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47" name="TextBox 10"/>
          <p:cNvSpPr/>
          <p:nvPr/>
        </p:nvSpPr>
        <p:spPr>
          <a:xfrm>
            <a:off x="850320" y="3447360"/>
            <a:ext cx="23770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596977"/>
                </a:solidFill>
                <a:latin typeface="Aptos"/>
              </a:rPr>
              <a:t>items routed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48" name="Rounded Rectangle 11"/>
          <p:cNvSpPr/>
          <p:nvPr/>
        </p:nvSpPr>
        <p:spPr>
          <a:xfrm>
            <a:off x="3611880" y="2286000"/>
            <a:ext cx="2624040" cy="1691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12"/>
          <p:cNvSpPr/>
          <p:nvPr/>
        </p:nvSpPr>
        <p:spPr>
          <a:xfrm>
            <a:off x="3749040" y="2597040"/>
            <a:ext cx="2377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008583"/>
                </a:solidFill>
                <a:latin typeface="Aptos"/>
              </a:rPr>
              <a:t>68.7%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3730680" y="3447360"/>
            <a:ext cx="23770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596977"/>
                </a:solidFill>
                <a:latin typeface="Aptos"/>
              </a:rPr>
              <a:t>sensitivity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51" name="Rounded Rectangle 14"/>
          <p:cNvSpPr/>
          <p:nvPr/>
        </p:nvSpPr>
        <p:spPr>
          <a:xfrm>
            <a:off x="6492240" y="2286000"/>
            <a:ext cx="2624040" cy="1691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15"/>
          <p:cNvSpPr/>
          <p:nvPr/>
        </p:nvSpPr>
        <p:spPr>
          <a:xfrm>
            <a:off x="6629400" y="2597040"/>
            <a:ext cx="2377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008583"/>
                </a:solidFill>
                <a:latin typeface="Aptos"/>
              </a:rPr>
              <a:t>44.8%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53" name="TextBox 16"/>
          <p:cNvSpPr/>
          <p:nvPr/>
        </p:nvSpPr>
        <p:spPr>
          <a:xfrm>
            <a:off x="6611040" y="3447360"/>
            <a:ext cx="23770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596977"/>
                </a:solidFill>
                <a:latin typeface="Aptos"/>
              </a:rPr>
              <a:t>specificity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54" name="Rounded Rectangle 17"/>
          <p:cNvSpPr/>
          <p:nvPr/>
        </p:nvSpPr>
        <p:spPr>
          <a:xfrm>
            <a:off x="9372600" y="2286000"/>
            <a:ext cx="2624040" cy="1691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TextBox 18"/>
          <p:cNvSpPr/>
          <p:nvPr/>
        </p:nvSpPr>
        <p:spPr>
          <a:xfrm>
            <a:off x="9509760" y="2597040"/>
            <a:ext cx="2377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008583"/>
                </a:solidFill>
                <a:latin typeface="Aptos"/>
              </a:rPr>
              <a:t>56.8%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56" name="TextBox 19"/>
          <p:cNvSpPr/>
          <p:nvPr/>
        </p:nvSpPr>
        <p:spPr>
          <a:xfrm>
            <a:off x="9491400" y="3447360"/>
            <a:ext cx="23770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500" spc="-1" strike="noStrike">
                <a:solidFill>
                  <a:srgbClr val="596977"/>
                </a:solidFill>
                <a:latin typeface="Aptos"/>
              </a:rPr>
              <a:t>balanced accuracy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57" name="TextBox 20"/>
          <p:cNvSpPr/>
          <p:nvPr/>
        </p:nvSpPr>
        <p:spPr>
          <a:xfrm>
            <a:off x="914400" y="4663440"/>
            <a:ext cx="10423800" cy="11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11223a"/>
                </a:solidFill>
                <a:latin typeface="Aptos"/>
              </a:rPr>
              <a:t>NPV = 26.5%  •  Review workload = 65.97%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11223a"/>
                </a:solidFill>
                <a:latin typeface="Aptos"/>
              </a:rPr>
              <a:t>Motivation: use decision impact to spend checking effort where it matters.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METHODS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Datasets and evaluation boundaries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Use the supplied reviewed criteria — never split free-text trial rules yourself.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62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8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65" name="Rounded Rectangle 8"/>
          <p:cNvSpPr/>
          <p:nvPr/>
        </p:nvSpPr>
        <p:spPr>
          <a:xfrm>
            <a:off x="731520" y="2148840"/>
            <a:ext cx="5211720" cy="30628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ounded Rectangle 9"/>
          <p:cNvSpPr/>
          <p:nvPr/>
        </p:nvSpPr>
        <p:spPr>
          <a:xfrm>
            <a:off x="731520" y="2148840"/>
            <a:ext cx="50040" cy="306288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10"/>
          <p:cNvSpPr/>
          <p:nvPr/>
        </p:nvSpPr>
        <p:spPr>
          <a:xfrm>
            <a:off x="941760" y="2322720"/>
            <a:ext cx="4845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2e5d95"/>
                </a:solidFill>
                <a:latin typeface="Aptos"/>
              </a:rPr>
              <a:t>NSCLC-100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941760" y="2953440"/>
            <a:ext cx="4800240" cy="15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100 patient–trial pairs • 10 trials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223 reviewed rules • 2,230 rule answers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50 dev / 50 test, split by trial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446 assigned annotation rows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9" name="Rounded Rectangle 12"/>
          <p:cNvSpPr/>
          <p:nvPr/>
        </p:nvSpPr>
        <p:spPr>
          <a:xfrm>
            <a:off x="6263640" y="2148840"/>
            <a:ext cx="5211720" cy="30628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Rounded Rectangle 13"/>
          <p:cNvSpPr/>
          <p:nvPr/>
        </p:nvSpPr>
        <p:spPr>
          <a:xfrm>
            <a:off x="6263640" y="2148840"/>
            <a:ext cx="50040" cy="306288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14"/>
          <p:cNvSpPr/>
          <p:nvPr/>
        </p:nvSpPr>
        <p:spPr>
          <a:xfrm>
            <a:off x="6473880" y="2322720"/>
            <a:ext cx="4845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008583"/>
                </a:solidFill>
                <a:latin typeface="Aptos"/>
              </a:rPr>
              <a:t>SIGIR-204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6473880" y="2953440"/>
            <a:ext cx="4800240" cy="17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204 patient–trial pairs • 14 patients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1,911 reviewed rules • 100 Eligible / 104 Not Eligible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102 dev / 102 test, split by patient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203 assigned annotation rows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73" name="TextBox 16"/>
          <p:cNvSpPr/>
          <p:nvPr/>
        </p:nvSpPr>
        <p:spPr>
          <a:xfrm>
            <a:off x="914400" y="5532120"/>
            <a:ext cx="1042380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Report datasets separately; use trial-level clustering for NSCLC and patient-level clustering for SIGIR.</a:t>
            </a:r>
            <a:endParaRPr b="0" lang="en-GB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METHODS • ARCHITECTURE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Proposed system: check, prioritize, and act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621720" y="1581840"/>
            <a:ext cx="1097244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This is the planned student system; the supplied kit currently provides baseline and evaluation infrastructure.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78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9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576000" y="2377440"/>
            <a:ext cx="2678760" cy="2834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Rounded Rectangle 9"/>
          <p:cNvSpPr/>
          <p:nvPr/>
        </p:nvSpPr>
        <p:spPr>
          <a:xfrm>
            <a:off x="576000" y="2377440"/>
            <a:ext cx="50040" cy="283428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10"/>
          <p:cNvSpPr/>
          <p:nvPr/>
        </p:nvSpPr>
        <p:spPr>
          <a:xfrm>
            <a:off x="786240" y="2551320"/>
            <a:ext cx="23130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2e5d95"/>
                </a:solidFill>
                <a:latin typeface="Aptos"/>
              </a:rPr>
              <a:t>1. AI ANSWERS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786240" y="3182040"/>
            <a:ext cx="22672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Plain AI or forced-guess baseline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5" name="Rounded Rectangle 12"/>
          <p:cNvSpPr/>
          <p:nvPr/>
        </p:nvSpPr>
        <p:spPr>
          <a:xfrm>
            <a:off x="3502080" y="2377440"/>
            <a:ext cx="2678760" cy="2834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Rounded Rectangle 13"/>
          <p:cNvSpPr/>
          <p:nvPr/>
        </p:nvSpPr>
        <p:spPr>
          <a:xfrm>
            <a:off x="3502080" y="2377440"/>
            <a:ext cx="50040" cy="283428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4"/>
          <p:cNvSpPr/>
          <p:nvPr/>
        </p:nvSpPr>
        <p:spPr>
          <a:xfrm>
            <a:off x="3712320" y="2551320"/>
            <a:ext cx="23130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008583"/>
                </a:solidFill>
                <a:latin typeface="Aptos"/>
              </a:rPr>
              <a:t>2. EVIDENCE CHECKS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8" name="TextBox 15"/>
          <p:cNvSpPr/>
          <p:nvPr/>
        </p:nvSpPr>
        <p:spPr>
          <a:xfrm>
            <a:off x="3712320" y="3182040"/>
            <a:ext cx="22672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Flag unsupported or misread answers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9" name="Rounded Rectangle 16"/>
          <p:cNvSpPr/>
          <p:nvPr/>
        </p:nvSpPr>
        <p:spPr>
          <a:xfrm>
            <a:off x="6428160" y="2377440"/>
            <a:ext cx="2678760" cy="2834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Rounded Rectangle 17"/>
          <p:cNvSpPr/>
          <p:nvPr/>
        </p:nvSpPr>
        <p:spPr>
          <a:xfrm>
            <a:off x="6428160" y="2377440"/>
            <a:ext cx="50040" cy="2834280"/>
          </a:xfrm>
          <a:prstGeom prst="roundRect">
            <a:avLst>
              <a:gd name="adj" fmla="val 16667"/>
            </a:avLst>
          </a:prstGeom>
          <a:solidFill>
            <a:srgbClr val="be7f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TextBox 18"/>
          <p:cNvSpPr/>
          <p:nvPr/>
        </p:nvSpPr>
        <p:spPr>
          <a:xfrm>
            <a:off x="6638400" y="2551320"/>
            <a:ext cx="23130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be7f28"/>
                </a:solidFill>
                <a:latin typeface="Aptos"/>
              </a:rPr>
              <a:t>3. DECISION IMPACT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92" name="TextBox 19"/>
          <p:cNvSpPr/>
          <p:nvPr/>
        </p:nvSpPr>
        <p:spPr>
          <a:xfrm>
            <a:off x="6638400" y="3182040"/>
            <a:ext cx="226728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Estimate which errors could change eligibility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93" name="Rounded Rectangle 20"/>
          <p:cNvSpPr/>
          <p:nvPr/>
        </p:nvSpPr>
        <p:spPr>
          <a:xfrm>
            <a:off x="9354240" y="2377440"/>
            <a:ext cx="2678760" cy="2834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Rounded Rectangle 21"/>
          <p:cNvSpPr/>
          <p:nvPr/>
        </p:nvSpPr>
        <p:spPr>
          <a:xfrm>
            <a:off x="9354240" y="2377440"/>
            <a:ext cx="50040" cy="2834280"/>
          </a:xfrm>
          <a:prstGeom prst="roundRect">
            <a:avLst>
              <a:gd name="adj" fmla="val 16667"/>
            </a:avLst>
          </a:prstGeom>
          <a:solidFill>
            <a:srgbClr val="b3404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5" name="TextBox 22"/>
          <p:cNvSpPr/>
          <p:nvPr/>
        </p:nvSpPr>
        <p:spPr>
          <a:xfrm>
            <a:off x="9564480" y="2551320"/>
            <a:ext cx="23130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b34043"/>
                </a:solidFill>
                <a:latin typeface="Aptos"/>
              </a:rPr>
              <a:t>4. HUMAN ACTION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96" name="TextBox 23"/>
          <p:cNvSpPr/>
          <p:nvPr/>
        </p:nvSpPr>
        <p:spPr>
          <a:xfrm>
            <a:off x="9564480" y="3182040"/>
            <a:ext cx="22672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Prioritize review; repair or defer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97" name="TextBox 24"/>
          <p:cNvSpPr/>
          <p:nvPr/>
        </p:nvSpPr>
        <p:spPr>
          <a:xfrm>
            <a:off x="914400" y="5577840"/>
            <a:ext cx="1033236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11223a"/>
                </a:solidFill>
                <a:latin typeface="Aptos"/>
              </a:rPr>
              <a:t>Primary objective: wrongly excluded eligible pairs rescued per 10 checks.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METHODS • EVIDENCE CHECKER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Six checks for every generated rule answer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201" name="Rounded Rectangle 4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TextBox 5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10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04" name="Rounded Rectangle 7"/>
          <p:cNvSpPr/>
          <p:nvPr/>
        </p:nvSpPr>
        <p:spPr>
          <a:xfrm>
            <a:off x="658440" y="2084760"/>
            <a:ext cx="3675600" cy="1435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8"/>
          <p:cNvSpPr/>
          <p:nvPr/>
        </p:nvSpPr>
        <p:spPr>
          <a:xfrm>
            <a:off x="822960" y="2267640"/>
            <a:ext cx="52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01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06" name="TextBox 9"/>
          <p:cNvSpPr/>
          <p:nvPr/>
        </p:nvSpPr>
        <p:spPr>
          <a:xfrm>
            <a:off x="1408320" y="2240280"/>
            <a:ext cx="274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11223a"/>
                </a:solidFill>
                <a:latin typeface="Aptos"/>
              </a:rPr>
              <a:t>Citation existence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1408320" y="2752200"/>
            <a:ext cx="27244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596977"/>
                </a:solidFill>
                <a:latin typeface="Aptos"/>
              </a:rPr>
              <a:t>Exact or fuzzy quote match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08" name="Rounded Rectangle 11"/>
          <p:cNvSpPr/>
          <p:nvPr/>
        </p:nvSpPr>
        <p:spPr>
          <a:xfrm>
            <a:off x="4563000" y="2084760"/>
            <a:ext cx="3675600" cy="1435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12"/>
          <p:cNvSpPr/>
          <p:nvPr/>
        </p:nvSpPr>
        <p:spPr>
          <a:xfrm>
            <a:off x="4727520" y="2267640"/>
            <a:ext cx="52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02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10" name="TextBox 13"/>
          <p:cNvSpPr/>
          <p:nvPr/>
        </p:nvSpPr>
        <p:spPr>
          <a:xfrm>
            <a:off x="5312520" y="2240280"/>
            <a:ext cx="274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11223a"/>
                </a:solidFill>
                <a:latin typeface="Aptos"/>
              </a:rPr>
              <a:t>Support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11" name="TextBox 14"/>
          <p:cNvSpPr/>
          <p:nvPr/>
        </p:nvSpPr>
        <p:spPr>
          <a:xfrm>
            <a:off x="5312520" y="2752200"/>
            <a:ext cx="272448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596977"/>
                </a:solidFill>
                <a:latin typeface="Aptos"/>
              </a:rPr>
              <a:t>Does evidence entail the claim?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12" name="Rounded Rectangle 15"/>
          <p:cNvSpPr/>
          <p:nvPr/>
        </p:nvSpPr>
        <p:spPr>
          <a:xfrm>
            <a:off x="8467200" y="2084760"/>
            <a:ext cx="3675600" cy="1435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TextBox 16"/>
          <p:cNvSpPr/>
          <p:nvPr/>
        </p:nvSpPr>
        <p:spPr>
          <a:xfrm>
            <a:off x="8632080" y="2267640"/>
            <a:ext cx="52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03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14" name="TextBox 17"/>
          <p:cNvSpPr/>
          <p:nvPr/>
        </p:nvSpPr>
        <p:spPr>
          <a:xfrm>
            <a:off x="9217080" y="2240280"/>
            <a:ext cx="274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11223a"/>
                </a:solidFill>
                <a:latin typeface="Aptos"/>
              </a:rPr>
              <a:t>Context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15" name="TextBox 18"/>
          <p:cNvSpPr/>
          <p:nvPr/>
        </p:nvSpPr>
        <p:spPr>
          <a:xfrm>
            <a:off x="9217080" y="2752200"/>
            <a:ext cx="272448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596977"/>
                </a:solidFill>
                <a:latin typeface="Aptos"/>
              </a:rPr>
              <a:t>Negation, history, family, hypothetical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16" name="Rounded Rectangle 19"/>
          <p:cNvSpPr/>
          <p:nvPr/>
        </p:nvSpPr>
        <p:spPr>
          <a:xfrm>
            <a:off x="658440" y="3776400"/>
            <a:ext cx="3675600" cy="1435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TextBox 20"/>
          <p:cNvSpPr/>
          <p:nvPr/>
        </p:nvSpPr>
        <p:spPr>
          <a:xfrm>
            <a:off x="822960" y="3959280"/>
            <a:ext cx="52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04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18" name="TextBox 21"/>
          <p:cNvSpPr/>
          <p:nvPr/>
        </p:nvSpPr>
        <p:spPr>
          <a:xfrm>
            <a:off x="1408320" y="3931920"/>
            <a:ext cx="274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11223a"/>
                </a:solidFill>
                <a:latin typeface="Aptos"/>
              </a:rPr>
              <a:t>Logic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19" name="TextBox 22"/>
          <p:cNvSpPr/>
          <p:nvPr/>
        </p:nvSpPr>
        <p:spPr>
          <a:xfrm>
            <a:off x="1408320" y="4443840"/>
            <a:ext cx="272448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596977"/>
                </a:solidFill>
                <a:latin typeface="Aptos"/>
              </a:rPr>
              <a:t>Inclusion/exclusion and numeric thresholds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20" name="Rounded Rectangle 23"/>
          <p:cNvSpPr/>
          <p:nvPr/>
        </p:nvSpPr>
        <p:spPr>
          <a:xfrm>
            <a:off x="4563000" y="3776400"/>
            <a:ext cx="3675600" cy="1435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24"/>
          <p:cNvSpPr/>
          <p:nvPr/>
        </p:nvSpPr>
        <p:spPr>
          <a:xfrm>
            <a:off x="4727520" y="3959280"/>
            <a:ext cx="52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05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22" name="TextBox 25"/>
          <p:cNvSpPr/>
          <p:nvPr/>
        </p:nvSpPr>
        <p:spPr>
          <a:xfrm>
            <a:off x="5312520" y="3931920"/>
            <a:ext cx="274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11223a"/>
                </a:solidFill>
                <a:latin typeface="Aptos"/>
              </a:rPr>
              <a:t>Contradiction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23" name="TextBox 26"/>
          <p:cNvSpPr/>
          <p:nvPr/>
        </p:nvSpPr>
        <p:spPr>
          <a:xfrm>
            <a:off x="5312520" y="4443840"/>
            <a:ext cx="272448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596977"/>
                </a:solidFill>
                <a:latin typeface="Aptos"/>
              </a:rPr>
              <a:t>Conflicting facts elsewhere in the note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24" name="Rounded Rectangle 27"/>
          <p:cNvSpPr/>
          <p:nvPr/>
        </p:nvSpPr>
        <p:spPr>
          <a:xfrm>
            <a:off x="8467200" y="3776400"/>
            <a:ext cx="3675600" cy="14353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28"/>
          <p:cNvSpPr/>
          <p:nvPr/>
        </p:nvSpPr>
        <p:spPr>
          <a:xfrm>
            <a:off x="8632080" y="3959280"/>
            <a:ext cx="52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06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26" name="TextBox 29"/>
          <p:cNvSpPr/>
          <p:nvPr/>
        </p:nvSpPr>
        <p:spPr>
          <a:xfrm>
            <a:off x="9217080" y="3931920"/>
            <a:ext cx="274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11223a"/>
                </a:solidFill>
                <a:latin typeface="Aptos"/>
              </a:rPr>
              <a:t>Missed evidence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27" name="TextBox 30"/>
          <p:cNvSpPr/>
          <p:nvPr/>
        </p:nvSpPr>
        <p:spPr>
          <a:xfrm>
            <a:off x="9217080" y="4443840"/>
            <a:ext cx="272448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400" spc="-1" strike="noStrike">
                <a:solidFill>
                  <a:srgbClr val="596977"/>
                </a:solidFill>
                <a:latin typeface="Aptos"/>
              </a:rPr>
              <a:t>Deciding evidence overlooked for UNKNOWN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METHODS • PRIORITIZATION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Decision impact: not every wrong answer matters equally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231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A sole rejection reason is particularly important to inspect.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32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34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11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35" name="Rounded Rectangle 8"/>
          <p:cNvSpPr/>
          <p:nvPr/>
        </p:nvSpPr>
        <p:spPr>
          <a:xfrm>
            <a:off x="731520" y="2194560"/>
            <a:ext cx="5211720" cy="28800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Rounded Rectangle 9"/>
          <p:cNvSpPr/>
          <p:nvPr/>
        </p:nvSpPr>
        <p:spPr>
          <a:xfrm>
            <a:off x="731520" y="2194560"/>
            <a:ext cx="50040" cy="2880000"/>
          </a:xfrm>
          <a:prstGeom prst="roundRect">
            <a:avLst>
              <a:gd name="adj" fmla="val 16667"/>
            </a:avLst>
          </a:prstGeom>
          <a:solidFill>
            <a:srgbClr val="b3404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TextBox 10"/>
          <p:cNvSpPr/>
          <p:nvPr/>
        </p:nvSpPr>
        <p:spPr>
          <a:xfrm>
            <a:off x="941760" y="2368440"/>
            <a:ext cx="484596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b34043"/>
                </a:solidFill>
                <a:latin typeface="Aptos"/>
              </a:rPr>
              <a:t>SOLE REJECTION REASON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38" name="TextBox 11"/>
          <p:cNvSpPr/>
          <p:nvPr/>
        </p:nvSpPr>
        <p:spPr>
          <a:xfrm>
            <a:off x="941760" y="2999160"/>
            <a:ext cx="480024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One AI rule answer is the only reason the pair is rejected. If that answer is wrong, correcting it may change the decision.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39" name="Rounded Rectangle 12"/>
          <p:cNvSpPr/>
          <p:nvPr/>
        </p:nvSpPr>
        <p:spPr>
          <a:xfrm>
            <a:off x="6263640" y="2194560"/>
            <a:ext cx="5211720" cy="28800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Rounded Rectangle 13"/>
          <p:cNvSpPr/>
          <p:nvPr/>
        </p:nvSpPr>
        <p:spPr>
          <a:xfrm>
            <a:off x="6263640" y="2194560"/>
            <a:ext cx="50040" cy="288000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TextBox 14"/>
          <p:cNvSpPr/>
          <p:nvPr/>
        </p:nvSpPr>
        <p:spPr>
          <a:xfrm>
            <a:off x="6473880" y="2368440"/>
            <a:ext cx="484596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2e5d95"/>
                </a:solidFill>
                <a:latin typeface="Aptos"/>
              </a:rPr>
              <a:t>MULTIPLE REJECTION REASONS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42" name="TextBox 15"/>
          <p:cNvSpPr/>
          <p:nvPr/>
        </p:nvSpPr>
        <p:spPr>
          <a:xfrm>
            <a:off x="6473880" y="2999160"/>
            <a:ext cx="480024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Correcting one wrong answer may not change eligibility when other valid rejection reasons remain.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43" name="TextBox 16"/>
          <p:cNvSpPr/>
          <p:nvPr/>
        </p:nvSpPr>
        <p:spPr>
          <a:xfrm>
            <a:off x="914400" y="5440680"/>
            <a:ext cx="1033236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11223a"/>
                </a:solidFill>
                <a:latin typeface="Aptos"/>
              </a:rPr>
              <a:t>Rank by checker warnings + counterfactual decision impact, not confidence alone.</a:t>
            </a:r>
            <a:endParaRPr b="0" lang="en-GB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METHODS • PLANNED EXPERIMENT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Compare priority strategies at equal review budgets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Review budgets: 5, 10, 20, 50, and 100 criterion checks.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48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9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50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12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51" name="Rounded Rectangle 8"/>
          <p:cNvSpPr/>
          <p:nvPr/>
        </p:nvSpPr>
        <p:spPr>
          <a:xfrm>
            <a:off x="777240" y="2084760"/>
            <a:ext cx="10652400" cy="5940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TextBox 9"/>
          <p:cNvSpPr/>
          <p:nvPr/>
        </p:nvSpPr>
        <p:spPr>
          <a:xfrm>
            <a:off x="1051560" y="2176200"/>
            <a:ext cx="3200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008583"/>
                </a:solidFill>
                <a:latin typeface="Aptos"/>
              </a:rPr>
              <a:t>Random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53" name="TextBox 10"/>
          <p:cNvSpPr/>
          <p:nvPr/>
        </p:nvSpPr>
        <p:spPr>
          <a:xfrm>
            <a:off x="4297680" y="2176200"/>
            <a:ext cx="65833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Fixed-seed baseline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54" name="Rounded Rectangle 11"/>
          <p:cNvSpPr/>
          <p:nvPr/>
        </p:nvSpPr>
        <p:spPr>
          <a:xfrm>
            <a:off x="777240" y="2779920"/>
            <a:ext cx="10652400" cy="5940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TextBox 12"/>
          <p:cNvSpPr/>
          <p:nvPr/>
        </p:nvSpPr>
        <p:spPr>
          <a:xfrm>
            <a:off x="1051560" y="2871360"/>
            <a:ext cx="3200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008583"/>
                </a:solidFill>
                <a:latin typeface="Aptos"/>
              </a:rPr>
              <a:t>Low confidence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56" name="TextBox 13"/>
          <p:cNvSpPr/>
          <p:nvPr/>
        </p:nvSpPr>
        <p:spPr>
          <a:xfrm>
            <a:off x="4297680" y="2871360"/>
            <a:ext cx="65833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Least confident first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57" name="Rounded Rectangle 14"/>
          <p:cNvSpPr/>
          <p:nvPr/>
        </p:nvSpPr>
        <p:spPr>
          <a:xfrm>
            <a:off x="777240" y="3474720"/>
            <a:ext cx="10652400" cy="5940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TextBox 15"/>
          <p:cNvSpPr/>
          <p:nvPr/>
        </p:nvSpPr>
        <p:spPr>
          <a:xfrm>
            <a:off x="1051560" y="3566160"/>
            <a:ext cx="3200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008583"/>
                </a:solidFill>
                <a:latin typeface="Aptos"/>
              </a:rPr>
              <a:t>Checker flags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59" name="TextBox 16"/>
          <p:cNvSpPr/>
          <p:nvPr/>
        </p:nvSpPr>
        <p:spPr>
          <a:xfrm>
            <a:off x="4297680" y="3566160"/>
            <a:ext cx="65833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Flagged answers first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60" name="Rounded Rectangle 17"/>
          <p:cNvSpPr/>
          <p:nvPr/>
        </p:nvSpPr>
        <p:spPr>
          <a:xfrm>
            <a:off x="777240" y="4169520"/>
            <a:ext cx="10652400" cy="5940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TextBox 18"/>
          <p:cNvSpPr/>
          <p:nvPr/>
        </p:nvSpPr>
        <p:spPr>
          <a:xfrm>
            <a:off x="1051560" y="4260960"/>
            <a:ext cx="3200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008583"/>
                </a:solidFill>
                <a:latin typeface="Aptos"/>
              </a:rPr>
              <a:t>Decision impact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62" name="TextBox 19"/>
          <p:cNvSpPr/>
          <p:nvPr/>
        </p:nvSpPr>
        <p:spPr>
          <a:xfrm>
            <a:off x="4297680" y="4260960"/>
            <a:ext cx="65833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Fewest rejection reasons first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63" name="Rounded Rectangle 20"/>
          <p:cNvSpPr/>
          <p:nvPr/>
        </p:nvSpPr>
        <p:spPr>
          <a:xfrm>
            <a:off x="777240" y="4864680"/>
            <a:ext cx="10652400" cy="5940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21"/>
          <p:cNvSpPr/>
          <p:nvPr/>
        </p:nvSpPr>
        <p:spPr>
          <a:xfrm>
            <a:off x="1051560" y="4956120"/>
            <a:ext cx="3200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008583"/>
                </a:solidFill>
                <a:latin typeface="Aptos"/>
              </a:rPr>
              <a:t>Combined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65" name="TextBox 22"/>
          <p:cNvSpPr/>
          <p:nvPr/>
        </p:nvSpPr>
        <p:spPr>
          <a:xfrm>
            <a:off x="4297680" y="4956120"/>
            <a:ext cx="65833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Warnings + decision impact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66" name="TextBox 23"/>
          <p:cNvSpPr/>
          <p:nvPr/>
        </p:nvSpPr>
        <p:spPr>
          <a:xfrm>
            <a:off x="914400" y="5806440"/>
            <a:ext cx="1051524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700" spc="-1" strike="noStrike">
                <a:solidFill>
                  <a:srgbClr val="11223a"/>
                </a:solidFill>
                <a:latin typeface="Aptos"/>
              </a:rPr>
              <a:t>Compare rescued eligible pairs per 10 checks, wrongful inclusions, and review workload.</a:t>
            </a:r>
            <a:endParaRPr b="0" lang="en-GB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METHODS • PLANNED EXPERIMENTS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Controlled traps and safe intervention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270" name="Rounded Rectangle 4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TextBox 5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72" name="TextBox 6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13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73" name="Rounded Rectangle 7"/>
          <p:cNvSpPr/>
          <p:nvPr/>
        </p:nvSpPr>
        <p:spPr>
          <a:xfrm>
            <a:off x="731520" y="2148840"/>
            <a:ext cx="5211720" cy="33372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4" name="Rounded Rectangle 8"/>
          <p:cNvSpPr/>
          <p:nvPr/>
        </p:nvSpPr>
        <p:spPr>
          <a:xfrm>
            <a:off x="731520" y="2148840"/>
            <a:ext cx="50040" cy="3337200"/>
          </a:xfrm>
          <a:prstGeom prst="roundRect">
            <a:avLst>
              <a:gd name="adj" fmla="val 16667"/>
            </a:avLst>
          </a:prstGeom>
          <a:solidFill>
            <a:srgbClr val="2e5d9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TextBox 9"/>
          <p:cNvSpPr/>
          <p:nvPr/>
        </p:nvSpPr>
        <p:spPr>
          <a:xfrm>
            <a:off x="941760" y="2322720"/>
            <a:ext cx="4845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2e5d95"/>
                </a:solidFill>
                <a:latin typeface="Aptos"/>
              </a:rPr>
              <a:t>SEVEN TRAP TYPES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76" name="TextBox 10"/>
          <p:cNvSpPr/>
          <p:nvPr/>
        </p:nvSpPr>
        <p:spPr>
          <a:xfrm>
            <a:off x="941760" y="2953440"/>
            <a:ext cx="4800240" cy="20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Negation • Family history • Hypothetical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Old value • Contradiction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Removed evidence • Threshold shift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Hand-check expected answers before testing.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77" name="Rounded Rectangle 11"/>
          <p:cNvSpPr/>
          <p:nvPr/>
        </p:nvSpPr>
        <p:spPr>
          <a:xfrm>
            <a:off x="6263640" y="2148840"/>
            <a:ext cx="5211720" cy="33372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Rounded Rectangle 12"/>
          <p:cNvSpPr/>
          <p:nvPr/>
        </p:nvSpPr>
        <p:spPr>
          <a:xfrm>
            <a:off x="6263640" y="2148840"/>
            <a:ext cx="50040" cy="333720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TextBox 13"/>
          <p:cNvSpPr/>
          <p:nvPr/>
        </p:nvSpPr>
        <p:spPr>
          <a:xfrm>
            <a:off x="6473880" y="2322720"/>
            <a:ext cx="4845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THREE RESPONSE POLICIES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80" name="TextBox 14"/>
          <p:cNvSpPr/>
          <p:nvPr/>
        </p:nvSpPr>
        <p:spPr>
          <a:xfrm>
            <a:off x="6473880" y="2953440"/>
            <a:ext cx="4800240" cy="23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Keep original answer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Defer: replace with UNKNOWN and review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Re-ask once with feedback; retain only if verified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Count correct answers broken as well as wrong answers fixed.</a:t>
            </a:r>
            <a:endParaRPr b="0" lang="en-GB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RESULTS / CURRENT STATUS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Progress as of 11 October: preparation, not model results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284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Verified from uploaded annotation files and supplied project-manager report.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85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87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88" name="Rounded Rectangle 8"/>
          <p:cNvSpPr/>
          <p:nvPr/>
        </p:nvSpPr>
        <p:spPr>
          <a:xfrm>
            <a:off x="731520" y="2057400"/>
            <a:ext cx="5211720" cy="33372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9" name="Rounded Rectangle 9"/>
          <p:cNvSpPr/>
          <p:nvPr/>
        </p:nvSpPr>
        <p:spPr>
          <a:xfrm>
            <a:off x="731520" y="2057400"/>
            <a:ext cx="50040" cy="333720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TextBox 10"/>
          <p:cNvSpPr/>
          <p:nvPr/>
        </p:nvSpPr>
        <p:spPr>
          <a:xfrm>
            <a:off x="941760" y="2231280"/>
            <a:ext cx="4845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008583"/>
                </a:solidFill>
                <a:latin typeface="Aptos"/>
              </a:rPr>
              <a:t>AVAILABLE / VERIFIED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91" name="TextBox 11"/>
          <p:cNvSpPr/>
          <p:nvPr/>
        </p:nvSpPr>
        <p:spPr>
          <a:xfrm>
            <a:off x="941760" y="2862000"/>
            <a:ext cx="4800240" cy="18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✓ </a:t>
            </a: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NSCLC annotation template: 446 rows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✓ </a:t>
            </a: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SIGIR annotation template: 203 rows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✓ </a:t>
            </a: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Local baseline/evaluation scripts and schemas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✓ </a:t>
            </a:r>
            <a:r>
              <a:rPr b="0" lang="en-US" sz="1600" spc="-1" strike="noStrike">
                <a:solidFill>
                  <a:srgbClr val="11223a"/>
                </a:solidFill>
                <a:latin typeface="Aptos"/>
              </a:rPr>
              <a:t>Project Manager reports 36/36 NSCLC and 9/9 SIGIR integrity checks passed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92" name="Rounded Rectangle 12"/>
          <p:cNvSpPr/>
          <p:nvPr/>
        </p:nvSpPr>
        <p:spPr>
          <a:xfrm>
            <a:off x="6263640" y="2057400"/>
            <a:ext cx="5211720" cy="33372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Rounded Rectangle 13"/>
          <p:cNvSpPr/>
          <p:nvPr/>
        </p:nvSpPr>
        <p:spPr>
          <a:xfrm>
            <a:off x="6263640" y="2057400"/>
            <a:ext cx="50040" cy="3337200"/>
          </a:xfrm>
          <a:prstGeom prst="roundRect">
            <a:avLst>
              <a:gd name="adj" fmla="val 16667"/>
            </a:avLst>
          </a:prstGeom>
          <a:solidFill>
            <a:srgbClr val="b3404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TextBox 14"/>
          <p:cNvSpPr/>
          <p:nvPr/>
        </p:nvSpPr>
        <p:spPr>
          <a:xfrm>
            <a:off x="6473880" y="2231280"/>
            <a:ext cx="4845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b34043"/>
                </a:solidFill>
                <a:latin typeface="Aptos"/>
              </a:rPr>
              <a:t>NOT YET COMPLETED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295" name="TextBox 15"/>
          <p:cNvSpPr/>
          <p:nvPr/>
        </p:nvSpPr>
        <p:spPr>
          <a:xfrm>
            <a:off x="6473880" y="2862000"/>
            <a:ext cx="4800240" cy="171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All 446 NSCLC truth fields blank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All 203 SIGIR truth fields blank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No student model experiments executed</a:t>
            </a:r>
            <a:endParaRPr b="0" lang="en-GB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No verified checker, rescue, or repair metrics yet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96" name="TextBox 16"/>
          <p:cNvSpPr/>
          <p:nvPr/>
        </p:nvSpPr>
        <p:spPr>
          <a:xfrm>
            <a:off x="914400" y="5706000"/>
            <a:ext cx="1033236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600" spc="-1" strike="noStrike">
                <a:solidFill>
                  <a:srgbClr val="596977"/>
                </a:solidFill>
                <a:latin typeface="Aptos"/>
              </a:rPr>
              <a:t>The numerical findings on Slides 5–7 are from prior laboratory work, not our proposed checker.</a:t>
            </a:r>
            <a:endParaRPr b="0" lang="en-GB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DISCUSSION • NEXT STEPS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99" name="TextBox 3"/>
          <p:cNvSpPr/>
          <p:nvPr/>
        </p:nvSpPr>
        <p:spPr>
          <a:xfrm>
            <a:off x="594360" y="786240"/>
            <a:ext cx="1097244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Future work: from prepared framework to evaluated outcomes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300" name="Rounded Rectangle 4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1" name="TextBox 5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02" name="TextBox 6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15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03" name="Rounded Rectangle 7"/>
          <p:cNvSpPr/>
          <p:nvPr/>
        </p:nvSpPr>
        <p:spPr>
          <a:xfrm>
            <a:off x="777240" y="2030040"/>
            <a:ext cx="10606680" cy="7768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TextBox 8"/>
          <p:cNvSpPr/>
          <p:nvPr/>
        </p:nvSpPr>
        <p:spPr>
          <a:xfrm>
            <a:off x="1042560" y="2167200"/>
            <a:ext cx="155412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008583"/>
                </a:solidFill>
                <a:latin typeface="Aptos"/>
              </a:rPr>
              <a:t>K1–K2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05" name="TextBox 9"/>
          <p:cNvSpPr/>
          <p:nvPr/>
        </p:nvSpPr>
        <p:spPr>
          <a:xfrm>
            <a:off x="2468880" y="2167200"/>
            <a:ext cx="8412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Complete/freeze annotations; run plain AI and forced-guess baselines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306" name="Rounded Rectangle 10"/>
          <p:cNvSpPr/>
          <p:nvPr/>
        </p:nvSpPr>
        <p:spPr>
          <a:xfrm>
            <a:off x="777240" y="2962800"/>
            <a:ext cx="10606680" cy="7768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7" name="TextBox 11"/>
          <p:cNvSpPr/>
          <p:nvPr/>
        </p:nvSpPr>
        <p:spPr>
          <a:xfrm>
            <a:off x="1042560" y="3099960"/>
            <a:ext cx="155412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008583"/>
                </a:solidFill>
                <a:latin typeface="Aptos"/>
              </a:rPr>
              <a:t>K3–K4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08" name="TextBox 12"/>
          <p:cNvSpPr/>
          <p:nvPr/>
        </p:nvSpPr>
        <p:spPr>
          <a:xfrm>
            <a:off x="2468880" y="3099960"/>
            <a:ext cx="8412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Implement six checks; compare fixed-budget review strategies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309" name="Rounded Rectangle 13"/>
          <p:cNvSpPr/>
          <p:nvPr/>
        </p:nvSpPr>
        <p:spPr>
          <a:xfrm>
            <a:off x="777240" y="3895200"/>
            <a:ext cx="10606680" cy="7768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TextBox 14"/>
          <p:cNvSpPr/>
          <p:nvPr/>
        </p:nvSpPr>
        <p:spPr>
          <a:xfrm>
            <a:off x="1042560" y="4032360"/>
            <a:ext cx="155412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008583"/>
                </a:solidFill>
                <a:latin typeface="Aptos"/>
              </a:rPr>
              <a:t>K5–K7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11" name="TextBox 15"/>
          <p:cNvSpPr/>
          <p:nvPr/>
        </p:nvSpPr>
        <p:spPr>
          <a:xfrm>
            <a:off x="2468880" y="4032360"/>
            <a:ext cx="8412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Build traps; compare repair/deferral; rank risky rejections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312" name="Rounded Rectangle 16"/>
          <p:cNvSpPr/>
          <p:nvPr/>
        </p:nvSpPr>
        <p:spPr>
          <a:xfrm>
            <a:off x="777240" y="4827960"/>
            <a:ext cx="10606680" cy="7768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TextBox 17"/>
          <p:cNvSpPr/>
          <p:nvPr/>
        </p:nvSpPr>
        <p:spPr>
          <a:xfrm>
            <a:off x="1042560" y="4965120"/>
            <a:ext cx="155412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2000" spc="-1" strike="noStrike">
                <a:solidFill>
                  <a:srgbClr val="008583"/>
                </a:solidFill>
                <a:latin typeface="Aptos"/>
              </a:rPr>
              <a:t>K8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314" name="TextBox 18"/>
          <p:cNvSpPr/>
          <p:nvPr/>
        </p:nvSpPr>
        <p:spPr>
          <a:xfrm>
            <a:off x="2468880" y="4965120"/>
            <a:ext cx="8412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700" spc="-1" strike="noStrike">
                <a:solidFill>
                  <a:srgbClr val="11223a"/>
                </a:solidFill>
                <a:latin typeface="Aptos"/>
              </a:rPr>
              <a:t>Freeze configuration; transfer to SIGIR; compare with rule-count baseline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315" name="TextBox 19"/>
          <p:cNvSpPr/>
          <p:nvPr/>
        </p:nvSpPr>
        <p:spPr>
          <a:xfrm>
            <a:off x="914400" y="5980320"/>
            <a:ext cx="10240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500" spc="-1" strike="noStrike">
                <a:solidFill>
                  <a:srgbClr val="11223a"/>
                </a:solidFill>
                <a:latin typeface="Aptos"/>
              </a:rPr>
              <a:t>Success requires more eligible pairs rescued at equal cost without unacceptable wrongful inclusion.</a:t>
            </a:r>
            <a:endParaRPr b="0" lang="en-GB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DISCUSSION • LIMITATIONS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318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Discussion: what if the approach does not help?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319" name="Rounded Rectangle 4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0" name="TextBox 5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21" name="TextBox 6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22" name="Rounded Rectangle 7"/>
          <p:cNvSpPr/>
          <p:nvPr/>
        </p:nvSpPr>
        <p:spPr>
          <a:xfrm>
            <a:off x="731520" y="2176200"/>
            <a:ext cx="5211720" cy="31816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3" name="Rounded Rectangle 8"/>
          <p:cNvSpPr/>
          <p:nvPr/>
        </p:nvSpPr>
        <p:spPr>
          <a:xfrm>
            <a:off x="731520" y="2176200"/>
            <a:ext cx="50040" cy="3181680"/>
          </a:xfrm>
          <a:prstGeom prst="roundRect">
            <a:avLst>
              <a:gd name="adj" fmla="val 16667"/>
            </a:avLst>
          </a:prstGeom>
          <a:solidFill>
            <a:srgbClr val="b3404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4" name="TextBox 9"/>
          <p:cNvSpPr/>
          <p:nvPr/>
        </p:nvSpPr>
        <p:spPr>
          <a:xfrm>
            <a:off x="941760" y="2350080"/>
            <a:ext cx="4845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b34043"/>
                </a:solidFill>
                <a:latin typeface="Aptos"/>
              </a:rPr>
              <a:t>POSSIBLE NEGATIVE FINDINGS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325" name="TextBox 10"/>
          <p:cNvSpPr/>
          <p:nvPr/>
        </p:nvSpPr>
        <p:spPr>
          <a:xfrm>
            <a:off x="941760" y="2980800"/>
            <a:ext cx="4800240" cy="20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Checker may flag too many answers.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Local error detection may not rescue patients.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Automated repair may break correct answers.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SIGIR notes may lack deciding facts.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26" name="Rounded Rectangle 11"/>
          <p:cNvSpPr/>
          <p:nvPr/>
        </p:nvSpPr>
        <p:spPr>
          <a:xfrm>
            <a:off x="6263640" y="2176200"/>
            <a:ext cx="5211720" cy="31816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Rounded Rectangle 12"/>
          <p:cNvSpPr/>
          <p:nvPr/>
        </p:nvSpPr>
        <p:spPr>
          <a:xfrm>
            <a:off x="6263640" y="2176200"/>
            <a:ext cx="50040" cy="318168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8" name="TextBox 13"/>
          <p:cNvSpPr/>
          <p:nvPr/>
        </p:nvSpPr>
        <p:spPr>
          <a:xfrm>
            <a:off x="6473880" y="2350080"/>
            <a:ext cx="4845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900" spc="-1" strike="noStrike">
                <a:solidFill>
                  <a:srgbClr val="008583"/>
                </a:solidFill>
                <a:latin typeface="Aptos"/>
              </a:rPr>
              <a:t>SCIENTIFIC INTERPRETATION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329" name="TextBox 14"/>
          <p:cNvSpPr/>
          <p:nvPr/>
        </p:nvSpPr>
        <p:spPr>
          <a:xfrm>
            <a:off x="6473880" y="2980800"/>
            <a:ext cx="4800240" cy="15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Report null or negative results.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Prefer deferral if repair causes harm.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Keep NSCLC and SIGIR separate.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800" spc="-1" strike="noStrike">
                <a:solidFill>
                  <a:srgbClr val="11223a"/>
                </a:solidFill>
                <a:latin typeface="Aptos"/>
              </a:rPr>
              <a:t>Do not claim clinical readiness.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30" name="TextBox 15"/>
          <p:cNvSpPr/>
          <p:nvPr/>
        </p:nvSpPr>
        <p:spPr>
          <a:xfrm>
            <a:off x="914400" y="5669280"/>
            <a:ext cx="104238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800" spc="-1" strike="noStrike">
                <a:solidFill>
                  <a:srgbClr val="11223a"/>
                </a:solidFill>
                <a:latin typeface="Aptos"/>
              </a:rPr>
              <a:t>Research question: does targeted checking improve patient-level decisions under limited human review?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ounded Rectangle 1"/>
          <p:cNvSpPr/>
          <p:nvPr/>
        </p:nvSpPr>
        <p:spPr>
          <a:xfrm>
            <a:off x="0" y="0"/>
            <a:ext cx="12191400" cy="109440"/>
          </a:xfrm>
          <a:prstGeom prst="roundRect">
            <a:avLst>
              <a:gd name="adj" fmla="val 16667"/>
            </a:avLst>
          </a:prstGeom>
          <a:solidFill>
            <a:srgbClr val="008583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2" name="TextBox 2"/>
          <p:cNvSpPr/>
          <p:nvPr/>
        </p:nvSpPr>
        <p:spPr>
          <a:xfrm>
            <a:off x="594360" y="338400"/>
            <a:ext cx="10972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1100" spc="-1" strike="noStrike">
                <a:solidFill>
                  <a:srgbClr val="008583"/>
                </a:solidFill>
                <a:latin typeface="Aptos"/>
              </a:rPr>
              <a:t>QUESTIONS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333" name="TextBox 3"/>
          <p:cNvSpPr/>
          <p:nvPr/>
        </p:nvSpPr>
        <p:spPr>
          <a:xfrm>
            <a:off x="594360" y="786240"/>
            <a:ext cx="109724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100" spc="-1" strike="noStrike">
                <a:solidFill>
                  <a:srgbClr val="11223a"/>
                </a:solidFill>
                <a:latin typeface="Aptos"/>
              </a:rPr>
              <a:t>Thank you</a:t>
            </a:r>
            <a:endParaRPr b="0" lang="en-GB" sz="3100" spc="-1" strike="noStrike">
              <a:latin typeface="Arial"/>
            </a:endParaRPr>
          </a:p>
        </p:txBody>
      </p:sp>
      <p:sp>
        <p:nvSpPr>
          <p:cNvPr id="334" name="TextBox 4"/>
          <p:cNvSpPr/>
          <p:nvPr/>
        </p:nvSpPr>
        <p:spPr>
          <a:xfrm>
            <a:off x="621720" y="1581840"/>
            <a:ext cx="1097244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596977"/>
                </a:solidFill>
                <a:latin typeface="Aptos"/>
              </a:rPr>
              <a:t>Decision-aware evidence checking for clinical-trial eligibility screening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335" name="Rounded Rectangle 5"/>
          <p:cNvSpPr/>
          <p:nvPr/>
        </p:nvSpPr>
        <p:spPr>
          <a:xfrm>
            <a:off x="621720" y="6473880"/>
            <a:ext cx="10972440" cy="13320"/>
          </a:xfrm>
          <a:prstGeom prst="roundRect">
            <a:avLst>
              <a:gd name="adj" fmla="val 16667"/>
            </a:avLst>
          </a:prstGeom>
          <a:solidFill>
            <a:srgbClr val="d8e0e7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6" name="TextBox 6"/>
          <p:cNvSpPr/>
          <p:nvPr/>
        </p:nvSpPr>
        <p:spPr>
          <a:xfrm>
            <a:off x="640080" y="6510600"/>
            <a:ext cx="100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SOURCE: Project Manager guidance • Akash project kit | 11 Oct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37" name="TextBox 7"/>
          <p:cNvSpPr/>
          <p:nvPr/>
        </p:nvSpPr>
        <p:spPr>
          <a:xfrm>
            <a:off x="11201400" y="6510600"/>
            <a:ext cx="365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900" spc="-1" strike="noStrike">
                <a:solidFill>
                  <a:srgbClr val="596977"/>
                </a:solidFill>
                <a:latin typeface="Aptos"/>
              </a:rPr>
              <a:t>17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338" name="Rounded Rectangle 8"/>
          <p:cNvSpPr/>
          <p:nvPr/>
        </p:nvSpPr>
        <p:spPr>
          <a:xfrm>
            <a:off x="914400" y="2286000"/>
            <a:ext cx="10286640" cy="2194200"/>
          </a:xfrm>
          <a:prstGeom prst="roundRect">
            <a:avLst>
              <a:gd name="adj" fmla="val 16667"/>
            </a:avLst>
          </a:prstGeom>
          <a:solidFill>
            <a:srgbClr val="11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9" name="TextBox 9"/>
          <p:cNvSpPr/>
          <p:nvPr/>
        </p:nvSpPr>
        <p:spPr>
          <a:xfrm>
            <a:off x="1280160" y="2880360"/>
            <a:ext cx="950940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Check what can change the outcome.</a:t>
            </a:r>
            <a:endParaRPr b="0" lang="en-GB" sz="3200" spc="-1" strike="noStrike">
              <a:latin typeface="Arial"/>
            </a:endParaRPr>
          </a:p>
        </p:txBody>
      </p:sp>
      <p:sp>
        <p:nvSpPr>
          <p:cNvPr id="340" name="TextBox 10"/>
          <p:cNvSpPr/>
          <p:nvPr/>
        </p:nvSpPr>
        <p:spPr>
          <a:xfrm>
            <a:off x="1188720" y="4983480"/>
            <a:ext cx="9600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27360" bIns="45000" anchor="t">
            <a:spAutoFit/>
          </a:bodyPr>
          <a:p>
            <a:pPr algn="ctr">
              <a:lnSpc>
                <a:spcPct val="100000"/>
              </a:lnSpc>
              <a:spcAft>
                <a:spcPts val="901"/>
              </a:spcAft>
              <a:buNone/>
            </a:pPr>
            <a:r>
              <a:rPr b="0" lang="en-US" sz="1900" spc="-1" strike="noStrike">
                <a:solidFill>
                  <a:srgbClr val="596977"/>
                </a:solidFill>
                <a:latin typeface="Aptos"/>
              </a:rPr>
              <a:t>MTP Mid-Evaluation  •  12 October 2026</a:t>
            </a:r>
            <a:endParaRPr b="0" lang="en-GB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